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Welcome. 20 minutes: what PQC-Monitor is, how it works, how a community uses it. Annex has the deep technical detail for follow-up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NIST IR 8547: classical public-key crypto deprecated after 2030, disallowed after 2035. Mosca: if migration time plus data secrecy lifetime exceeds time to a cryptographically relevant quantum computer, you are already late.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threat is not future traffic — it's today's traffic recorded and stored. Anything with a secrecy lifetime beyond ~2035 is already exposed if it crosses classical TLS.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capabilities in one platform. Emphasise: strictly passive reconnaissance — no exploitation, no DoS. Assessments need review by qualified professionals before compliance decisions.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Left to right: domain lists feed the scanner engine, results are scored against pluggable guideline JSON, stored in SQLite, and served through a role-scoped Flask dashboard. Scheduler drives periodic rescans in a separate process — scans never block the web UI.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Per-domain flow. Each step feeds normalised facts to the assessor. Re-assessment can replay stored scan data against updated guidelines without touching the network.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levels plus N/A for hosts with no TLS service — those are excluded from averages so they don't distort the picture. PQC detection means ML-KEM key exchange or ML-DSA certificates observed.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authorities, three JSON rule files. Updating a guideline is a data change, not a code change — and reassessment propagates it to every stored scan instantly.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Live demo or screenshot. Seven tabs; drill from summary cards to per-domain full TLS detail including every accepted cipher suite and the SSL Labs grade.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roles. Analysts see only assigned domain lists. Community managers see aggregate group reports for their communities — never other people's raw data. Everything is audit-logged.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operating model for a community: continuous loop, not a one-off audit. Trend data turns migration into a measurable programme — and a little friendly peer pressure between member organisations.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Nine minor releases since 1.0, in production behind nginx with systemd. 340+ unit tests. AI-assisted development with full human review, GPL-3.0.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Backlog is tiered by effort. Near-term: executive PDF reporting and cert-expiry warnings. Mid-term: geographic map view and sector benchmarking. Long-term: SAML/OIDC and trend alerting.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the main deck here. Offer the annex for architecture, schema, API, deployment and scoring internals. Q&amp;A.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Reference material — use as needed during Q&amp;A.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Production request flow. Two independent processes: web and scheduler — a scheduled scan never blocks a user request. Flask app factory pattern with three blueprints.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Eleven scanner modules, each single-purpose. STARTTLS dispatches by protocol family, not port, as of 1.9.1. SSL Labs is cache-only during scans; fresh assessments only on demand from the UI.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SQLite in WAL mode, schema v17, incremental migrations run automatically on startup. Newest-per-domain semantics drive the dashboard; enrichment blobs live in domain_extra keyed by type.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/app endpoint authenticated; domain data always passes filter_assessments; group reports always pass allowed-org scoping. Admin actions carry explicit permission checks and audit events.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Runs on very small hardware — production instance is an e2-micro. Non-privileged system user, config under /etc, data under /var/lib, code under /opt. Incremental deploy script restarts only affected services.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Layered enumeration with graceful degradation: if the DNSDumpster quota is exhausted mid-run, passive techniques take over automatically for the rest of the session.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monitoring tool itself is hardened: signed sessions, lockout, rate limiting, full audit trail. AuthProvider interface means SAML/OIDC drops in without touching route code.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Details that matter for trust in the numbers: IANA normalisation so guideline rules actually match; named findings so remediation is actionable; na semantics so no-TLS hosts don't distort averages; SSL Labs kept display-only by design.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CFB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95250"/>
          </a:xfrm>
          <a:prstGeom prst="rect">
            <a:avLst/>
          </a:prstGeom>
          <a:solidFill>
            <a:srgbClr val="6D28D9"/>
          </a:solidFill>
          <a:ln/>
        </p:spPr>
      </p:sp>
      <p:sp>
        <p:nvSpPr>
          <p:cNvPr id="3" name="Shape 1"/>
          <p:cNvSpPr/>
          <p:nvPr/>
        </p:nvSpPr>
        <p:spPr>
          <a:xfrm>
            <a:off x="1047750" y="3071945"/>
            <a:ext cx="609600" cy="609600"/>
          </a:xfrm>
          <a:prstGeom prst="roundRect">
            <a:avLst>
              <a:gd name="adj" fmla="val 21875"/>
            </a:avLst>
          </a:prstGeom>
          <a:solidFill>
            <a:srgbClr val="6D28D9"/>
          </a:solidFill>
          <a:ln/>
        </p:spPr>
      </p:sp>
      <p:sp>
        <p:nvSpPr>
          <p:cNvPr id="4" name="Text 2"/>
          <p:cNvSpPr/>
          <p:nvPr/>
        </p:nvSpPr>
        <p:spPr>
          <a:xfrm>
            <a:off x="1181100" y="3190478"/>
            <a:ext cx="419100" cy="410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PQ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1847850" y="3215878"/>
            <a:ext cx="5393875" cy="3598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6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v1.9.1 · GPL-3.0 · Python / Flask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047750" y="4214945"/>
            <a:ext cx="17811750" cy="1219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100" b="1" spc="-162" kern="0" dirty="0">
                <a:solidFill>
                  <a:srgbClr val="1B1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PQC-Monitor</a:t>
            </a:r>
            <a:endParaRPr lang="en-US" sz="8100" dirty="0"/>
          </a:p>
        </p:txBody>
      </p:sp>
      <p:sp>
        <p:nvSpPr>
          <p:cNvPr id="7" name="Text 5"/>
          <p:cNvSpPr/>
          <p:nvPr/>
        </p:nvSpPr>
        <p:spPr>
          <a:xfrm>
            <a:off x="1047750" y="5662745"/>
            <a:ext cx="12753975" cy="10781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706"/>
              </a:lnSpc>
              <a:buNone/>
            </a:pPr>
            <a:r>
              <a:rPr lang="en-US" sz="3150" dirty="0">
                <a:solidFill>
                  <a:srgbClr val="6B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Post-Quantum Cryptography readiness monitoring for sector-wide TLS estates</a:t>
            </a:r>
            <a:endParaRPr lang="en-US" sz="3150" dirty="0"/>
          </a:p>
        </p:txBody>
      </p:sp>
      <p:sp>
        <p:nvSpPr>
          <p:cNvPr id="8" name="Text 6"/>
          <p:cNvSpPr/>
          <p:nvPr/>
        </p:nvSpPr>
        <p:spPr>
          <a:xfrm>
            <a:off x="1047750" y="6874272"/>
            <a:ext cx="17811750" cy="4360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&amp; technical briefing — Security Leadership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047750" y="9436100"/>
            <a:ext cx="6074185" cy="279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i="1" dirty="0">
                <a:solidFill>
                  <a:srgbClr val="8A84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Quantum computers can't break this deck yet. We checked.</a:t>
            </a:r>
            <a:endParaRPr lang="en-US" sz="16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CFB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914400"/>
            <a:ext cx="17811750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98" kern="0" dirty="0">
                <a:solidFill>
                  <a:srgbClr val="6D2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WHY NOW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047750" y="1322917"/>
            <a:ext cx="17811750" cy="7408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1B1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Quantum Deadline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1047750" y="2482850"/>
            <a:ext cx="7905750" cy="3580077"/>
          </a:xfrm>
          <a:prstGeom prst="roundRect">
            <a:avLst>
              <a:gd name="adj" fmla="val 5321"/>
            </a:avLst>
          </a:prstGeom>
          <a:solidFill>
            <a:srgbClr val="F1EBFB"/>
          </a:solidFill>
          <a:ln/>
        </p:spPr>
      </p:sp>
      <p:sp>
        <p:nvSpPr>
          <p:cNvPr id="5" name="Text 3"/>
          <p:cNvSpPr/>
          <p:nvPr/>
        </p:nvSpPr>
        <p:spPr>
          <a:xfrm>
            <a:off x="1619250" y="3016250"/>
            <a:ext cx="7439025" cy="146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761"/>
              </a:lnSpc>
              <a:buNone/>
            </a:pPr>
            <a:r>
              <a:rPr lang="en-US" sz="11250" b="1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2030</a:t>
            </a:r>
            <a:endParaRPr lang="en-US" sz="11250" dirty="0"/>
          </a:p>
        </p:txBody>
      </p:sp>
      <p:sp>
        <p:nvSpPr>
          <p:cNvPr id="6" name="Text 4"/>
          <p:cNvSpPr/>
          <p:nvPr/>
        </p:nvSpPr>
        <p:spPr>
          <a:xfrm>
            <a:off x="1619250" y="4673600"/>
            <a:ext cx="7439025" cy="4579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537"/>
              </a:lnSpc>
              <a:buNone/>
            </a:pPr>
            <a:r>
              <a:rPr lang="en-US" sz="2400" dirty="0">
                <a:solidFill>
                  <a:srgbClr val="1B1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RSA &amp; ECC </a:t>
            </a:r>
            <a:pPr algn="l" indent="0" marL="0">
              <a:lnSpc>
                <a:spcPct val="118537"/>
              </a:lnSpc>
              <a:buNone/>
            </a:pPr>
            <a:r>
              <a:rPr lang="en-US" sz="2400" b="1" dirty="0">
                <a:solidFill>
                  <a:srgbClr val="1B1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deprecated </a:t>
            </a:r>
            <a:pPr algn="l" indent="0" marL="0">
              <a:lnSpc>
                <a:spcPct val="118537"/>
              </a:lnSpc>
              <a:buNone/>
            </a:pPr>
            <a:r>
              <a:rPr lang="en-US" sz="2400" dirty="0">
                <a:solidFill>
                  <a:srgbClr val="1B1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US federal use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619250" y="5207794"/>
            <a:ext cx="7439025" cy="3598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6B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NIST IR 8547 transition timeline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9334500" y="2482850"/>
            <a:ext cx="7905750" cy="3580077"/>
          </a:xfrm>
          <a:prstGeom prst="roundRect">
            <a:avLst>
              <a:gd name="adj" fmla="val 5321"/>
            </a:avLst>
          </a:prstGeom>
          <a:solidFill>
            <a:srgbClr val="1B1626"/>
          </a:solidFill>
          <a:ln/>
        </p:spPr>
      </p:sp>
      <p:sp>
        <p:nvSpPr>
          <p:cNvPr id="9" name="Text 7"/>
          <p:cNvSpPr/>
          <p:nvPr/>
        </p:nvSpPr>
        <p:spPr>
          <a:xfrm>
            <a:off x="9906000" y="3016250"/>
            <a:ext cx="7439025" cy="146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761"/>
              </a:lnSpc>
              <a:buNone/>
            </a:pPr>
            <a:r>
              <a:rPr lang="en-US" sz="11250" b="1" dirty="0">
                <a:solidFill>
                  <a:srgbClr val="C4B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2035</a:t>
            </a:r>
            <a:endParaRPr lang="en-US" sz="11250" dirty="0"/>
          </a:p>
        </p:txBody>
      </p:sp>
      <p:sp>
        <p:nvSpPr>
          <p:cNvPr id="10" name="Text 8"/>
          <p:cNvSpPr/>
          <p:nvPr/>
        </p:nvSpPr>
        <p:spPr>
          <a:xfrm>
            <a:off x="9906000" y="4673600"/>
            <a:ext cx="7439025" cy="4579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537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Classical public-key crypto </a:t>
            </a:r>
            <a:pPr algn="l" indent="0" marL="0">
              <a:lnSpc>
                <a:spcPct val="118537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disallowed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9906000" y="5207794"/>
            <a:ext cx="7439025" cy="3598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A79F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ML-KEM / ML-DSA become the baseline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1047750" y="6482027"/>
            <a:ext cx="95250" cy="861880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/>
        </p:spPr>
      </p:sp>
      <p:sp>
        <p:nvSpPr>
          <p:cNvPr id="13" name="Text 11"/>
          <p:cNvSpPr/>
          <p:nvPr/>
        </p:nvSpPr>
        <p:spPr>
          <a:xfrm>
            <a:off x="1371600" y="6482027"/>
            <a:ext cx="14716125" cy="899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927"/>
              </a:lnSpc>
              <a:buNone/>
            </a:pPr>
            <a:r>
              <a:rPr lang="en-US" sz="2400" dirty="0">
                <a:solidFill>
                  <a:srgbClr val="1B1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Sector-wide migrations take years. Knowing </a:t>
            </a:r>
            <a:pPr algn="l" indent="0" marL="0">
              <a:lnSpc>
                <a:spcPct val="122927"/>
              </a:lnSpc>
              <a:buNone/>
            </a:pPr>
            <a:r>
              <a:rPr lang="en-US" sz="2400" b="1" dirty="0">
                <a:solidFill>
                  <a:srgbClr val="1B1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every domain stands today </a:t>
            </a:r>
            <a:pPr algn="l" indent="0" marL="0">
              <a:lnSpc>
                <a:spcPct val="122927"/>
              </a:lnSpc>
              <a:buNone/>
            </a:pPr>
            <a:r>
              <a:rPr lang="en-US" sz="2400" dirty="0">
                <a:solidFill>
                  <a:srgbClr val="1B1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the prerequisite for finishing on time.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914400"/>
            <a:ext cx="17811750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98" kern="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THREAT MODEL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047750" y="1322917"/>
            <a:ext cx="17811750" cy="7408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Harvest Now, Decrypt Later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1047750" y="2974314"/>
            <a:ext cx="4483100" cy="2164821"/>
          </a:xfrm>
          <a:prstGeom prst="roundRect">
            <a:avLst>
              <a:gd name="adj" fmla="val 8800"/>
            </a:avLst>
          </a:prstGeom>
          <a:solidFill>
            <a:srgbClr val="2A2338"/>
          </a:solidFill>
          <a:ln/>
        </p:spPr>
      </p:sp>
      <p:sp>
        <p:nvSpPr>
          <p:cNvPr id="5" name="Text 3"/>
          <p:cNvSpPr/>
          <p:nvPr/>
        </p:nvSpPr>
        <p:spPr>
          <a:xfrm>
            <a:off x="1284605" y="3431514"/>
            <a:ext cx="4009390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65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TODAY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1412177" y="3859080"/>
            <a:ext cx="3754247" cy="8609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8537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Adversaries record encrypted traffic in bulk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873750" y="3620691"/>
            <a:ext cx="762000" cy="9101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400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5400" dirty="0"/>
          </a:p>
        </p:txBody>
      </p:sp>
      <p:sp>
        <p:nvSpPr>
          <p:cNvPr id="8" name="Shape 6"/>
          <p:cNvSpPr/>
          <p:nvPr/>
        </p:nvSpPr>
        <p:spPr>
          <a:xfrm>
            <a:off x="6902450" y="2768600"/>
            <a:ext cx="4483100" cy="2576248"/>
          </a:xfrm>
          <a:prstGeom prst="roundRect">
            <a:avLst>
              <a:gd name="adj" fmla="val 7394"/>
            </a:avLst>
          </a:prstGeom>
          <a:solidFill>
            <a:srgbClr val="2A2338"/>
          </a:solidFill>
          <a:ln/>
        </p:spPr>
      </p:sp>
      <p:sp>
        <p:nvSpPr>
          <p:cNvPr id="9" name="Text 7"/>
          <p:cNvSpPr/>
          <p:nvPr/>
        </p:nvSpPr>
        <p:spPr>
          <a:xfrm>
            <a:off x="7139305" y="3225800"/>
            <a:ext cx="4009390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65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QUANTUM ERA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7266877" y="3653367"/>
            <a:ext cx="3754247" cy="12723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8537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Stored RSA / ECDHE sessions are broken retroactively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1728450" y="3620691"/>
            <a:ext cx="762000" cy="9101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400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5400" dirty="0"/>
          </a:p>
        </p:txBody>
      </p:sp>
      <p:sp>
        <p:nvSpPr>
          <p:cNvPr id="12" name="Shape 10"/>
          <p:cNvSpPr/>
          <p:nvPr/>
        </p:nvSpPr>
        <p:spPr>
          <a:xfrm>
            <a:off x="12757150" y="2768600"/>
            <a:ext cx="4483100" cy="2576248"/>
          </a:xfrm>
          <a:prstGeom prst="roundRect">
            <a:avLst>
              <a:gd name="adj" fmla="val 7394"/>
            </a:avLst>
          </a:prstGeom>
          <a:solidFill>
            <a:srgbClr val="4A1D8F"/>
          </a:solidFill>
          <a:ln/>
        </p:spPr>
      </p:sp>
      <p:sp>
        <p:nvSpPr>
          <p:cNvPr id="13" name="Text 11"/>
          <p:cNvSpPr/>
          <p:nvPr/>
        </p:nvSpPr>
        <p:spPr>
          <a:xfrm>
            <a:off x="12994005" y="3225800"/>
            <a:ext cx="4009390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650" dirty="0">
                <a:solidFill>
                  <a:srgbClr val="DDD1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IMPACT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13121577" y="3653367"/>
            <a:ext cx="3754247" cy="12723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8537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Long-lived secrets exposed years after the fact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047750" y="5878248"/>
            <a:ext cx="14716125" cy="93040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7317"/>
              </a:lnSpc>
              <a:buNone/>
            </a:pPr>
            <a:r>
              <a:rPr lang="en-US" sz="2400" dirty="0">
                <a:solidFill>
                  <a:srgbClr val="C9C2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 data whose confidentiality must survive past ~2035 — health records, financial data, state communications — is </a:t>
            </a:r>
            <a:pPr algn="l" indent="0" marL="0">
              <a:lnSpc>
                <a:spcPct val="127317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already at risk </a:t>
            </a:r>
            <a:pPr algn="l" indent="0" marL="0">
              <a:lnSpc>
                <a:spcPct val="127317"/>
              </a:lnSpc>
              <a:buNone/>
            </a:pPr>
            <a:r>
              <a:rPr lang="en-US" sz="2400" dirty="0">
                <a:solidFill>
                  <a:srgbClr val="C9C2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it crosses classical TLS.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1047750" y="9474200"/>
            <a:ext cx="7201099" cy="279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i="1" dirty="0">
                <a:solidFill>
                  <a:srgbClr val="7A72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Somewhere, a data centre is very patiently hoarding your handshakes.</a:t>
            </a:r>
            <a:endParaRPr lang="en-US" sz="16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CFB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914400"/>
            <a:ext cx="17811750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98" kern="0" dirty="0">
                <a:solidFill>
                  <a:srgbClr val="6D2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IT DOES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047750" y="1322917"/>
            <a:ext cx="17811750" cy="7408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1B1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Capabilities Overview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1047750" y="2482850"/>
            <a:ext cx="5219700" cy="3010958"/>
          </a:xfrm>
          <a:prstGeom prst="roundRect">
            <a:avLst>
              <a:gd name="adj" fmla="val 5694"/>
            </a:avLst>
          </a:prstGeom>
          <a:solidFill>
            <a:srgbClr val="FFFFFF"/>
          </a:solidFill>
          <a:ln w="16933">
            <a:solidFill>
              <a:srgbClr val="E6E1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426633" y="2842683"/>
            <a:ext cx="4908127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6D2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· DISCOVER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1426633" y="3251200"/>
            <a:ext cx="4908127" cy="3852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1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TLS &amp; certificate discovery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426633" y="3693583"/>
            <a:ext cx="4595791" cy="7067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873"/>
              </a:lnSpc>
              <a:buNone/>
            </a:pPr>
            <a:r>
              <a:rPr lang="en-US" sz="1950" dirty="0">
                <a:solidFill>
                  <a:srgbClr val="6B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Ports, STARTTLS mail, chains, ciphers, CDN, DNS enumeration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6534150" y="2482850"/>
            <a:ext cx="5219700" cy="3010958"/>
          </a:xfrm>
          <a:prstGeom prst="roundRect">
            <a:avLst>
              <a:gd name="adj" fmla="val 5694"/>
            </a:avLst>
          </a:prstGeom>
          <a:solidFill>
            <a:srgbClr val="FFFFFF"/>
          </a:solidFill>
          <a:ln w="16933">
            <a:solidFill>
              <a:srgbClr val="E6E1E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913033" y="2842683"/>
            <a:ext cx="4908127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6D2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· SCORE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6913033" y="3251200"/>
            <a:ext cx="4908127" cy="3852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1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Multi-guideline scoring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6913033" y="3693583"/>
            <a:ext cx="4595791" cy="7067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873"/>
              </a:lnSpc>
              <a:buNone/>
            </a:pPr>
            <a:r>
              <a:rPr lang="en-US" sz="1950" dirty="0">
                <a:solidFill>
                  <a:srgbClr val="6B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NIST SP 800-131Ar3, BSI TR-02102-1, CCN-STIC-221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12020550" y="2482850"/>
            <a:ext cx="5219700" cy="3010958"/>
          </a:xfrm>
          <a:prstGeom prst="roundRect">
            <a:avLst>
              <a:gd name="adj" fmla="val 5694"/>
            </a:avLst>
          </a:prstGeom>
          <a:solidFill>
            <a:srgbClr val="FFFFFF"/>
          </a:solidFill>
          <a:ln w="16933">
            <a:solidFill>
              <a:srgbClr val="E6E1E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399434" y="2842683"/>
            <a:ext cx="4908127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6D2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· WATCH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12399434" y="3251200"/>
            <a:ext cx="4908127" cy="3852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1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 log monitoring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2399434" y="3693583"/>
            <a:ext cx="4595791" cy="7067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873"/>
              </a:lnSpc>
              <a:buNone/>
            </a:pPr>
            <a:r>
              <a:rPr lang="en-US" sz="1950" dirty="0">
                <a:solidFill>
                  <a:srgbClr val="6B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Detects PQC certificate deployments as they appear</a:t>
            </a:r>
            <a:endParaRPr lang="en-US" sz="1950" dirty="0"/>
          </a:p>
        </p:txBody>
      </p:sp>
      <p:sp>
        <p:nvSpPr>
          <p:cNvPr id="16" name="Shape 14"/>
          <p:cNvSpPr/>
          <p:nvPr/>
        </p:nvSpPr>
        <p:spPr>
          <a:xfrm>
            <a:off x="1047750" y="5760508"/>
            <a:ext cx="5219700" cy="3010958"/>
          </a:xfrm>
          <a:prstGeom prst="roundRect">
            <a:avLst>
              <a:gd name="adj" fmla="val 5694"/>
            </a:avLst>
          </a:prstGeom>
          <a:solidFill>
            <a:srgbClr val="FFFFFF"/>
          </a:solidFill>
          <a:ln w="16933">
            <a:solidFill>
              <a:srgbClr val="E6E1E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426633" y="6120342"/>
            <a:ext cx="4908127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6D2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· PLAN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1426633" y="6528858"/>
            <a:ext cx="4908127" cy="3852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1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Migration roadmaps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1426633" y="6971242"/>
            <a:ext cx="4595791" cy="7067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873"/>
              </a:lnSpc>
              <a:buNone/>
            </a:pPr>
            <a:r>
              <a:rPr lang="en-US" sz="1950" dirty="0">
                <a:solidFill>
                  <a:srgbClr val="6B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Phased action plans generated per domain estate</a:t>
            </a:r>
            <a:endParaRPr lang="en-US" sz="1950" dirty="0"/>
          </a:p>
        </p:txBody>
      </p:sp>
      <p:sp>
        <p:nvSpPr>
          <p:cNvPr id="20" name="Shape 18"/>
          <p:cNvSpPr/>
          <p:nvPr/>
        </p:nvSpPr>
        <p:spPr>
          <a:xfrm>
            <a:off x="6534150" y="5760508"/>
            <a:ext cx="5219700" cy="3010958"/>
          </a:xfrm>
          <a:prstGeom prst="roundRect">
            <a:avLst>
              <a:gd name="adj" fmla="val 5694"/>
            </a:avLst>
          </a:prstGeom>
          <a:solidFill>
            <a:srgbClr val="FFFFFF"/>
          </a:solidFill>
          <a:ln w="16933">
            <a:solidFill>
              <a:srgbClr val="E6E1E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913033" y="6120342"/>
            <a:ext cx="4908127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6D2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· TRACK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6913033" y="6528858"/>
            <a:ext cx="4908127" cy="3852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1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Scheduled trend tracking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6913033" y="6971242"/>
            <a:ext cx="4595791" cy="7067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873"/>
              </a:lnSpc>
              <a:buNone/>
            </a:pPr>
            <a:r>
              <a:rPr lang="en-US" sz="1950" dirty="0">
                <a:solidFill>
                  <a:srgbClr val="6B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Periodic re-scans; score and adoption over time</a:t>
            </a:r>
            <a:endParaRPr lang="en-US" sz="1950" dirty="0"/>
          </a:p>
        </p:txBody>
      </p:sp>
      <p:sp>
        <p:nvSpPr>
          <p:cNvPr id="24" name="Shape 22"/>
          <p:cNvSpPr/>
          <p:nvPr/>
        </p:nvSpPr>
        <p:spPr>
          <a:xfrm>
            <a:off x="12020550" y="5760508"/>
            <a:ext cx="5219700" cy="3010958"/>
          </a:xfrm>
          <a:prstGeom prst="roundRect">
            <a:avLst>
              <a:gd name="adj" fmla="val 5694"/>
            </a:avLst>
          </a:prstGeom>
          <a:solidFill>
            <a:srgbClr val="F1EBFB"/>
          </a:solidFill>
          <a:ln w="16933">
            <a:solidFill>
              <a:srgbClr val="F1EBF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2399434" y="6120342"/>
            <a:ext cx="4908127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6D2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· SHARE</a:t>
            </a:r>
            <a:endParaRPr lang="en-US" sz="1650" dirty="0"/>
          </a:p>
        </p:txBody>
      </p:sp>
      <p:sp>
        <p:nvSpPr>
          <p:cNvPr id="26" name="Text 24"/>
          <p:cNvSpPr/>
          <p:nvPr/>
        </p:nvSpPr>
        <p:spPr>
          <a:xfrm>
            <a:off x="12399434" y="6528858"/>
            <a:ext cx="4908127" cy="3852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1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Role-scoped reporting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12399434" y="6971242"/>
            <a:ext cx="4595791" cy="7067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873"/>
              </a:lnSpc>
              <a:buNone/>
            </a:pPr>
            <a:r>
              <a:rPr lang="en-US" sz="1950" dirty="0">
                <a:solidFill>
                  <a:srgbClr val="6B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reports by community, region, country — CSV / PDF</a:t>
            </a:r>
            <a:endParaRPr lang="en-US" sz="1950" dirty="0"/>
          </a:p>
        </p:txBody>
      </p:sp>
      <p:sp>
        <p:nvSpPr>
          <p:cNvPr id="28" name="Text 26"/>
          <p:cNvSpPr/>
          <p:nvPr/>
        </p:nvSpPr>
        <p:spPr>
          <a:xfrm>
            <a:off x="1047750" y="9095317"/>
            <a:ext cx="17811750" cy="3725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2E8B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⏺ Strictly passive</a:t>
            </a:r>
            <a:pPr algn="l" indent="0" marL="0">
              <a:buNone/>
            </a:pPr>
            <a:r>
              <a:rPr lang="en-US" sz="1950" dirty="0">
                <a:solidFill>
                  <a:srgbClr val="6B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no exploit payloads, no DoS, authorised targets only.</a:t>
            </a:r>
            <a:endParaRPr lang="en-US" sz="1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CFB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914400"/>
            <a:ext cx="17811750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98" kern="0" dirty="0">
                <a:solidFill>
                  <a:srgbClr val="6D2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HOW IT WORKS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047750" y="1322917"/>
            <a:ext cx="17811750" cy="7408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1B1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Architecture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1047750" y="3932767"/>
            <a:ext cx="2476500" cy="2065867"/>
          </a:xfrm>
          <a:prstGeom prst="roundRect">
            <a:avLst>
              <a:gd name="adj" fmla="val 7377"/>
            </a:avLst>
          </a:prstGeom>
          <a:solidFill>
            <a:srgbClr val="FFFFFF"/>
          </a:solidFill>
          <a:ln w="16933">
            <a:solidFill>
              <a:srgbClr val="E6E1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14967" y="4197350"/>
            <a:ext cx="2142067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650" dirty="0">
                <a:solidFill>
                  <a:srgbClr val="6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1214967" y="4548717"/>
            <a:ext cx="2142067" cy="3217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1B1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 lists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1274233" y="4908550"/>
            <a:ext cx="2023533" cy="863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650" dirty="0">
                <a:solidFill>
                  <a:srgbClr val="6B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· AI discovery · DNS enum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1047750" y="6189133"/>
            <a:ext cx="2476500" cy="1790700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16933">
            <a:solidFill>
              <a:srgbClr val="E6E1E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14967" y="6453717"/>
            <a:ext cx="2142067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650" dirty="0">
                <a:solidFill>
                  <a:srgbClr val="6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TRIGGER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1214967" y="6805083"/>
            <a:ext cx="2142067" cy="3217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1B1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Scheduler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1274233" y="7164917"/>
            <a:ext cx="2023533" cy="588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650" dirty="0">
                <a:solidFill>
                  <a:srgbClr val="6B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periodic re-scans (APScheduler)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3695700" y="2482850"/>
            <a:ext cx="533400" cy="6985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3600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3600" dirty="0"/>
          </a:p>
        </p:txBody>
      </p:sp>
      <p:sp>
        <p:nvSpPr>
          <p:cNvPr id="13" name="Shape 11"/>
          <p:cNvSpPr/>
          <p:nvPr/>
        </p:nvSpPr>
        <p:spPr>
          <a:xfrm>
            <a:off x="4400550" y="2482850"/>
            <a:ext cx="8343900" cy="6946900"/>
          </a:xfrm>
          <a:prstGeom prst="roundRect">
            <a:avLst>
              <a:gd name="adj" fmla="val 2742"/>
            </a:avLst>
          </a:prstGeom>
          <a:solidFill>
            <a:srgbClr val="F1EBFB"/>
          </a:solidFill>
          <a:ln/>
        </p:spPr>
      </p:sp>
      <p:sp>
        <p:nvSpPr>
          <p:cNvPr id="14" name="Text 12"/>
          <p:cNvSpPr/>
          <p:nvPr/>
        </p:nvSpPr>
        <p:spPr>
          <a:xfrm>
            <a:off x="4339590" y="2768600"/>
            <a:ext cx="8465820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650" dirty="0">
                <a:solidFill>
                  <a:srgbClr val="6D2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SCANNER ENGINE — parallel, passive</a:t>
            </a:r>
            <a:endParaRPr lang="en-US" sz="1650" dirty="0"/>
          </a:p>
        </p:txBody>
      </p:sp>
      <p:sp>
        <p:nvSpPr>
          <p:cNvPr id="15" name="Shape 13"/>
          <p:cNvSpPr/>
          <p:nvPr/>
        </p:nvSpPr>
        <p:spPr>
          <a:xfrm>
            <a:off x="4724400" y="3215217"/>
            <a:ext cx="3781425" cy="1516922"/>
          </a:xfrm>
          <a:prstGeom prst="roundRect">
            <a:avLst>
              <a:gd name="adj" fmla="val 7535"/>
            </a:avLst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4914900" y="3836061"/>
            <a:ext cx="3592473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B1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discovery + DANE/DNSSEC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8639175" y="3215217"/>
            <a:ext cx="3781425" cy="1516922"/>
          </a:xfrm>
          <a:prstGeom prst="roundRect">
            <a:avLst>
              <a:gd name="adj" fmla="val 7535"/>
            </a:avLst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8829675" y="3836061"/>
            <a:ext cx="3338175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B1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TLS handshake &amp; cert extraction</a:t>
            </a:r>
            <a:endParaRPr lang="en-US" sz="1650" dirty="0"/>
          </a:p>
        </p:txBody>
      </p:sp>
      <p:sp>
        <p:nvSpPr>
          <p:cNvPr id="19" name="Shape 17"/>
          <p:cNvSpPr/>
          <p:nvPr/>
        </p:nvSpPr>
        <p:spPr>
          <a:xfrm>
            <a:off x="4724400" y="4865489"/>
            <a:ext cx="3781425" cy="1516922"/>
          </a:xfrm>
          <a:prstGeom prst="roundRect">
            <a:avLst>
              <a:gd name="adj" fmla="val 7535"/>
            </a:avLst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4914900" y="5486334"/>
            <a:ext cx="3373028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B1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STARTTLS (SMTP · IMAP · POP3)</a:t>
            </a:r>
            <a:endParaRPr lang="en-US" sz="1650" dirty="0"/>
          </a:p>
        </p:txBody>
      </p:sp>
      <p:sp>
        <p:nvSpPr>
          <p:cNvPr id="21" name="Shape 19"/>
          <p:cNvSpPr/>
          <p:nvPr/>
        </p:nvSpPr>
        <p:spPr>
          <a:xfrm>
            <a:off x="8639175" y="4865489"/>
            <a:ext cx="3781425" cy="1516922"/>
          </a:xfrm>
          <a:prstGeom prst="roundRect">
            <a:avLst>
              <a:gd name="adj" fmla="val 7535"/>
            </a:avLst>
          </a:pr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8829675" y="5486334"/>
            <a:ext cx="2614209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B1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Cipher suite enumeration</a:t>
            </a:r>
            <a:endParaRPr lang="en-US" sz="1650" dirty="0"/>
          </a:p>
        </p:txBody>
      </p:sp>
      <p:sp>
        <p:nvSpPr>
          <p:cNvPr id="23" name="Shape 21"/>
          <p:cNvSpPr/>
          <p:nvPr/>
        </p:nvSpPr>
        <p:spPr>
          <a:xfrm>
            <a:off x="4724400" y="6515762"/>
            <a:ext cx="3781425" cy="1516989"/>
          </a:xfrm>
          <a:prstGeom prst="roundRect">
            <a:avLst>
              <a:gd name="adj" fmla="val 7535"/>
            </a:avLst>
          </a:pr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4914900" y="7136673"/>
            <a:ext cx="3415447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B1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Chain validation &amp; CDN detection</a:t>
            </a:r>
            <a:endParaRPr lang="en-US" sz="1650" dirty="0"/>
          </a:p>
        </p:txBody>
      </p:sp>
      <p:sp>
        <p:nvSpPr>
          <p:cNvPr id="25" name="Shape 23"/>
          <p:cNvSpPr/>
          <p:nvPr/>
        </p:nvSpPr>
        <p:spPr>
          <a:xfrm>
            <a:off x="8639175" y="6515762"/>
            <a:ext cx="3781425" cy="1516989"/>
          </a:xfrm>
          <a:prstGeom prst="roundRect">
            <a:avLst>
              <a:gd name="adj" fmla="val 7535"/>
            </a:avLst>
          </a:prstGeom>
          <a:solidFill>
            <a:srgbClr val="FFFFFF"/>
          </a:solidFill>
          <a:ln/>
        </p:spPr>
      </p:sp>
      <p:sp>
        <p:nvSpPr>
          <p:cNvPr id="26" name="Text 24"/>
          <p:cNvSpPr/>
          <p:nvPr/>
        </p:nvSpPr>
        <p:spPr>
          <a:xfrm>
            <a:off x="8829675" y="7136673"/>
            <a:ext cx="3210772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B1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Shodan &amp; SSL Labs enrichment</a:t>
            </a:r>
            <a:endParaRPr lang="en-US" sz="1650" dirty="0"/>
          </a:p>
        </p:txBody>
      </p:sp>
      <p:sp>
        <p:nvSpPr>
          <p:cNvPr id="27" name="Shape 25"/>
          <p:cNvSpPr/>
          <p:nvPr/>
        </p:nvSpPr>
        <p:spPr>
          <a:xfrm>
            <a:off x="4724400" y="8185150"/>
            <a:ext cx="7696200" cy="958850"/>
          </a:xfrm>
          <a:prstGeom prst="roundRect">
            <a:avLst>
              <a:gd name="adj" fmla="val 11921"/>
            </a:avLst>
          </a:prstGeom>
          <a:solidFill>
            <a:srgbClr val="6D28D9"/>
          </a:solidFill>
          <a:ln/>
        </p:spPr>
      </p:sp>
      <p:sp>
        <p:nvSpPr>
          <p:cNvPr id="28" name="Text 26"/>
          <p:cNvSpPr/>
          <p:nvPr/>
        </p:nvSpPr>
        <p:spPr>
          <a:xfrm>
            <a:off x="4570095" y="8356600"/>
            <a:ext cx="8004810" cy="3217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Crypto assessor — score + findings per domain</a:t>
            </a:r>
            <a:endParaRPr lang="en-US" sz="1950" dirty="0"/>
          </a:p>
        </p:txBody>
      </p:sp>
      <p:sp>
        <p:nvSpPr>
          <p:cNvPr id="29" name="Text 27"/>
          <p:cNvSpPr/>
          <p:nvPr/>
        </p:nvSpPr>
        <p:spPr>
          <a:xfrm>
            <a:off x="4570095" y="8697384"/>
            <a:ext cx="8004810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650" dirty="0">
                <a:solidFill>
                  <a:srgbClr val="DDD1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guidelines/*.json — versioned policy rules</a:t>
            </a:r>
            <a:endParaRPr lang="en-US" sz="1650" dirty="0"/>
          </a:p>
        </p:txBody>
      </p:sp>
      <p:sp>
        <p:nvSpPr>
          <p:cNvPr id="30" name="Text 28"/>
          <p:cNvSpPr/>
          <p:nvPr/>
        </p:nvSpPr>
        <p:spPr>
          <a:xfrm>
            <a:off x="12915900" y="2482850"/>
            <a:ext cx="533400" cy="6985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3600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3600" dirty="0"/>
          </a:p>
        </p:txBody>
      </p:sp>
      <p:sp>
        <p:nvSpPr>
          <p:cNvPr id="31" name="Shape 29"/>
          <p:cNvSpPr/>
          <p:nvPr/>
        </p:nvSpPr>
        <p:spPr>
          <a:xfrm>
            <a:off x="13620750" y="4125383"/>
            <a:ext cx="3619500" cy="1718733"/>
          </a:xfrm>
          <a:prstGeom prst="roundRect">
            <a:avLst>
              <a:gd name="adj" fmla="val 8867"/>
            </a:avLst>
          </a:prstGeom>
          <a:solidFill>
            <a:srgbClr val="1B1626"/>
          </a:solidFill>
          <a:ln/>
        </p:spPr>
      </p:sp>
      <p:sp>
        <p:nvSpPr>
          <p:cNvPr id="32" name="Text 30"/>
          <p:cNvSpPr/>
          <p:nvPr/>
        </p:nvSpPr>
        <p:spPr>
          <a:xfrm>
            <a:off x="13887450" y="4353983"/>
            <a:ext cx="3394710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STORE</a:t>
            </a:r>
            <a:endParaRPr lang="en-US" sz="1650" dirty="0"/>
          </a:p>
        </p:txBody>
      </p:sp>
      <p:sp>
        <p:nvSpPr>
          <p:cNvPr id="33" name="Text 31"/>
          <p:cNvSpPr/>
          <p:nvPr/>
        </p:nvSpPr>
        <p:spPr>
          <a:xfrm>
            <a:off x="13887450" y="4705350"/>
            <a:ext cx="3394710" cy="3217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SQLite (WAL)</a:t>
            </a:r>
            <a:endParaRPr lang="en-US" sz="1950" dirty="0"/>
          </a:p>
        </p:txBody>
      </p:sp>
      <p:sp>
        <p:nvSpPr>
          <p:cNvPr id="34" name="Text 32"/>
          <p:cNvSpPr/>
          <p:nvPr/>
        </p:nvSpPr>
        <p:spPr>
          <a:xfrm>
            <a:off x="13887450" y="5065183"/>
            <a:ext cx="3178683" cy="588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A79F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runs · assessments · trends · audit log</a:t>
            </a:r>
            <a:endParaRPr lang="en-US" sz="1650" dirty="0"/>
          </a:p>
        </p:txBody>
      </p:sp>
      <p:sp>
        <p:nvSpPr>
          <p:cNvPr id="35" name="Shape 33"/>
          <p:cNvSpPr/>
          <p:nvPr/>
        </p:nvSpPr>
        <p:spPr>
          <a:xfrm>
            <a:off x="13620750" y="6034617"/>
            <a:ext cx="3619500" cy="175260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6933">
            <a:solidFill>
              <a:srgbClr val="6D28D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3904384" y="6280150"/>
            <a:ext cx="3357457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6D2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SERVE</a:t>
            </a:r>
            <a:endParaRPr lang="en-US" sz="1650" dirty="0"/>
          </a:p>
        </p:txBody>
      </p:sp>
      <p:sp>
        <p:nvSpPr>
          <p:cNvPr id="37" name="Text 35"/>
          <p:cNvSpPr/>
          <p:nvPr/>
        </p:nvSpPr>
        <p:spPr>
          <a:xfrm>
            <a:off x="13904384" y="6631517"/>
            <a:ext cx="3357457" cy="3217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B1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dashboard + CLI</a:t>
            </a:r>
            <a:endParaRPr lang="en-US" sz="1950" dirty="0"/>
          </a:p>
        </p:txBody>
      </p:sp>
      <p:sp>
        <p:nvSpPr>
          <p:cNvPr id="38" name="Text 36"/>
          <p:cNvSpPr/>
          <p:nvPr/>
        </p:nvSpPr>
        <p:spPr>
          <a:xfrm>
            <a:off x="13904384" y="6991350"/>
            <a:ext cx="3143800" cy="588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6B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RBAC · trends · roadmaps · CSV/PDF/JSON</a:t>
            </a:r>
            <a:endParaRPr lang="en-US" sz="16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CFB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914400"/>
            <a:ext cx="17811750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98" kern="0" dirty="0">
                <a:solidFill>
                  <a:srgbClr val="6D2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HOW IT WORKS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047750" y="1322917"/>
            <a:ext cx="17811750" cy="7408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1B1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Assessment Pipeline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1047750" y="2482850"/>
            <a:ext cx="5283200" cy="1486297"/>
          </a:xfrm>
          <a:prstGeom prst="roundRect">
            <a:avLst>
              <a:gd name="adj" fmla="val 8972"/>
            </a:avLst>
          </a:prstGeom>
          <a:solidFill>
            <a:srgbClr val="FFFFFF"/>
          </a:solidFill>
          <a:ln w="16933">
            <a:solidFill>
              <a:srgbClr val="E6E1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12333" y="2728383"/>
            <a:ext cx="5229437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6D2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· DISCOVER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1312333" y="3079750"/>
            <a:ext cx="4896654" cy="6819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507"/>
              </a:lnSpc>
              <a:buNone/>
            </a:pPr>
            <a:r>
              <a:rPr lang="en-US" sz="1950" dirty="0">
                <a:solidFill>
                  <a:srgbClr val="1B1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TLS ports, mail STARTTLS, DANE records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6502400" y="2482850"/>
            <a:ext cx="5283200" cy="1486297"/>
          </a:xfrm>
          <a:prstGeom prst="roundRect">
            <a:avLst>
              <a:gd name="adj" fmla="val 8972"/>
            </a:avLst>
          </a:prstGeom>
          <a:solidFill>
            <a:srgbClr val="FFFFFF"/>
          </a:solidFill>
          <a:ln w="16933">
            <a:solidFill>
              <a:srgbClr val="E6E1E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766983" y="2728383"/>
            <a:ext cx="5229437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6D2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· PROBE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6766983" y="3079750"/>
            <a:ext cx="4896654" cy="6819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507"/>
              </a:lnSpc>
              <a:buNone/>
            </a:pPr>
            <a:r>
              <a:rPr lang="en-US" sz="1950" dirty="0">
                <a:solidFill>
                  <a:srgbClr val="1B1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Handshake per port; extract certificates &amp; key exchange</a:t>
            </a:r>
            <a:endParaRPr lang="en-US" sz="1950" dirty="0"/>
          </a:p>
        </p:txBody>
      </p:sp>
      <p:sp>
        <p:nvSpPr>
          <p:cNvPr id="10" name="Shape 8"/>
          <p:cNvSpPr/>
          <p:nvPr/>
        </p:nvSpPr>
        <p:spPr>
          <a:xfrm>
            <a:off x="11957050" y="2482850"/>
            <a:ext cx="5283200" cy="1486297"/>
          </a:xfrm>
          <a:prstGeom prst="roundRect">
            <a:avLst>
              <a:gd name="adj" fmla="val 8972"/>
            </a:avLst>
          </a:prstGeom>
          <a:solidFill>
            <a:srgbClr val="FFFFFF"/>
          </a:solidFill>
          <a:ln w="16933">
            <a:solidFill>
              <a:srgbClr val="E6E1E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221633" y="2728383"/>
            <a:ext cx="5229437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6D2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· ENUMERATE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12221633" y="3079750"/>
            <a:ext cx="4896654" cy="6819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507"/>
              </a:lnSpc>
              <a:buNone/>
            </a:pPr>
            <a:r>
              <a:rPr lang="en-US" sz="1950" dirty="0">
                <a:solidFill>
                  <a:srgbClr val="1B1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accepted cipher set, chain analysis, CDN fingerprint</a:t>
            </a:r>
            <a:endParaRPr lang="en-US" sz="1950" dirty="0"/>
          </a:p>
        </p:txBody>
      </p:sp>
      <p:sp>
        <p:nvSpPr>
          <p:cNvPr id="13" name="Shape 11"/>
          <p:cNvSpPr/>
          <p:nvPr/>
        </p:nvSpPr>
        <p:spPr>
          <a:xfrm>
            <a:off x="1047750" y="4140597"/>
            <a:ext cx="5283200" cy="1486297"/>
          </a:xfrm>
          <a:prstGeom prst="roundRect">
            <a:avLst>
              <a:gd name="adj" fmla="val 8972"/>
            </a:avLst>
          </a:prstGeom>
          <a:solidFill>
            <a:srgbClr val="FFFFFF"/>
          </a:solidFill>
          <a:ln w="16933">
            <a:solidFill>
              <a:srgbClr val="E6E1E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312333" y="4386130"/>
            <a:ext cx="5229437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6D2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· NORMALISE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1312333" y="4737497"/>
            <a:ext cx="4896654" cy="6819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507"/>
              </a:lnSpc>
              <a:buNone/>
            </a:pPr>
            <a:r>
              <a:rPr lang="en-US" sz="1950" dirty="0">
                <a:solidFill>
                  <a:srgbClr val="1B1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Raw scan → CryptoFacts; OpenSSL names → IANA</a:t>
            </a:r>
            <a:endParaRPr lang="en-US" sz="1950" dirty="0"/>
          </a:p>
        </p:txBody>
      </p:sp>
      <p:sp>
        <p:nvSpPr>
          <p:cNvPr id="16" name="Shape 14"/>
          <p:cNvSpPr/>
          <p:nvPr/>
        </p:nvSpPr>
        <p:spPr>
          <a:xfrm>
            <a:off x="6502400" y="4140597"/>
            <a:ext cx="5283200" cy="1486297"/>
          </a:xfrm>
          <a:prstGeom prst="roundRect">
            <a:avLst>
              <a:gd name="adj" fmla="val 8972"/>
            </a:avLst>
          </a:prstGeom>
          <a:solidFill>
            <a:srgbClr val="F1EBFB"/>
          </a:solidFill>
          <a:ln w="16933">
            <a:solidFill>
              <a:srgbClr val="6D28D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66983" y="4386130"/>
            <a:ext cx="5229437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6D2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· ASSESS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6766983" y="4737497"/>
            <a:ext cx="4896654" cy="6819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507"/>
              </a:lnSpc>
              <a:buNone/>
            </a:pPr>
            <a:r>
              <a:rPr lang="en-US" sz="1950" dirty="0">
                <a:solidFill>
                  <a:srgbClr val="1B1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 0–100 against each guideline; named findings</a:t>
            </a:r>
            <a:endParaRPr lang="en-US" sz="1950" dirty="0"/>
          </a:p>
        </p:txBody>
      </p:sp>
      <p:sp>
        <p:nvSpPr>
          <p:cNvPr id="19" name="Shape 17"/>
          <p:cNvSpPr/>
          <p:nvPr/>
        </p:nvSpPr>
        <p:spPr>
          <a:xfrm>
            <a:off x="11957050" y="4140597"/>
            <a:ext cx="5283200" cy="1486297"/>
          </a:xfrm>
          <a:prstGeom prst="roundRect">
            <a:avLst>
              <a:gd name="adj" fmla="val 8972"/>
            </a:avLst>
          </a:prstGeom>
          <a:solidFill>
            <a:srgbClr val="FFFFFF"/>
          </a:solidFill>
          <a:ln w="16933">
            <a:solidFill>
              <a:srgbClr val="E6E1E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2221633" y="4386130"/>
            <a:ext cx="5229437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6D2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 · PERSIST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12221633" y="4737497"/>
            <a:ext cx="4896654" cy="6819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507"/>
              </a:lnSpc>
              <a:buNone/>
            </a:pPr>
            <a:r>
              <a:rPr lang="en-US" sz="1950" dirty="0">
                <a:solidFill>
                  <a:srgbClr val="1B1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Assessment + enrichment blobs stored per run</a:t>
            </a:r>
            <a:endParaRPr lang="en-US" sz="1950" dirty="0"/>
          </a:p>
        </p:txBody>
      </p:sp>
      <p:sp>
        <p:nvSpPr>
          <p:cNvPr id="22" name="Shape 20"/>
          <p:cNvSpPr/>
          <p:nvPr/>
        </p:nvSpPr>
        <p:spPr>
          <a:xfrm>
            <a:off x="1047750" y="6007894"/>
            <a:ext cx="81095" cy="861880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/>
        </p:spPr>
      </p:sp>
      <p:sp>
        <p:nvSpPr>
          <p:cNvPr id="23" name="Text 21"/>
          <p:cNvSpPr/>
          <p:nvPr/>
        </p:nvSpPr>
        <p:spPr>
          <a:xfrm>
            <a:off x="1357445" y="6007894"/>
            <a:ext cx="16359289" cy="899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927"/>
              </a:lnSpc>
              <a:buNone/>
            </a:pPr>
            <a:r>
              <a:rPr lang="en-US" sz="2400" b="1" dirty="0">
                <a:solidFill>
                  <a:srgbClr val="1B1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Re-assessment without re-scanning: </a:t>
            </a:r>
            <a:pPr algn="l" indent="0" marL="0">
              <a:lnSpc>
                <a:spcPct val="122927"/>
              </a:lnSpc>
              <a:buNone/>
            </a:pPr>
            <a:r>
              <a:rPr lang="en-US" sz="2400" dirty="0">
                <a:solidFill>
                  <a:srgbClr val="1B1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a guideline updates, stored scan data is replayed through the new rules — zero network traffic.</a:t>
            </a:r>
            <a:endParaRPr lang="en-US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CFB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914400"/>
            <a:ext cx="17811750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98" kern="0" dirty="0">
                <a:solidFill>
                  <a:srgbClr val="6D2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HOW IT WORKS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047750" y="1322917"/>
            <a:ext cx="17811750" cy="7408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1B1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Readiness Scoring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1047750" y="2482850"/>
            <a:ext cx="16192500" cy="8001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6933">
            <a:solidFill>
              <a:srgbClr val="E6E1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88533" y="2759075"/>
            <a:ext cx="247650" cy="247650"/>
          </a:xfrm>
          <a:prstGeom prst="ellipse">
            <a:avLst/>
          </a:prstGeom>
          <a:solidFill>
            <a:srgbClr val="C2413B"/>
          </a:solidFill>
          <a:ln/>
        </p:spPr>
      </p:sp>
      <p:sp>
        <p:nvSpPr>
          <p:cNvPr id="6" name="Text 4"/>
          <p:cNvSpPr/>
          <p:nvPr/>
        </p:nvSpPr>
        <p:spPr>
          <a:xfrm>
            <a:off x="1807633" y="2709333"/>
            <a:ext cx="1007599" cy="3852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1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12733" y="2722033"/>
            <a:ext cx="2305050" cy="3598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6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 – 25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6874933" y="2722033"/>
            <a:ext cx="11026987" cy="3598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6B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Broken or deprecated crypto in use — RC4, DES, MD5, SHA-1 certs, RSA-1024</a:t>
            </a:r>
            <a:endParaRPr lang="en-US" sz="1950" dirty="0"/>
          </a:p>
        </p:txBody>
      </p:sp>
      <p:sp>
        <p:nvSpPr>
          <p:cNvPr id="9" name="Shape 7"/>
          <p:cNvSpPr/>
          <p:nvPr/>
        </p:nvSpPr>
        <p:spPr>
          <a:xfrm>
            <a:off x="1047750" y="3492500"/>
            <a:ext cx="16192500" cy="8001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6933">
            <a:solidFill>
              <a:srgbClr val="E6E1E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388533" y="3768725"/>
            <a:ext cx="247650" cy="247650"/>
          </a:xfrm>
          <a:prstGeom prst="ellipse">
            <a:avLst/>
          </a:prstGeom>
          <a:solidFill>
            <a:srgbClr val="D97E27"/>
          </a:solidFill>
          <a:ln/>
        </p:spPr>
      </p:sp>
      <p:sp>
        <p:nvSpPr>
          <p:cNvPr id="11" name="Text 9"/>
          <p:cNvSpPr/>
          <p:nvPr/>
        </p:nvSpPr>
        <p:spPr>
          <a:xfrm>
            <a:off x="1807633" y="3718983"/>
            <a:ext cx="849842" cy="3852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1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Weak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4512733" y="3731683"/>
            <a:ext cx="2305050" cy="3598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6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26 – 50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6874933" y="3731683"/>
            <a:ext cx="11026987" cy="3598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6B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Below recommended minimums; no PQC</a:t>
            </a:r>
            <a:endParaRPr lang="en-US" sz="1950" dirty="0"/>
          </a:p>
        </p:txBody>
      </p:sp>
      <p:sp>
        <p:nvSpPr>
          <p:cNvPr id="14" name="Shape 12"/>
          <p:cNvSpPr/>
          <p:nvPr/>
        </p:nvSpPr>
        <p:spPr>
          <a:xfrm>
            <a:off x="1047750" y="4502150"/>
            <a:ext cx="16192500" cy="8001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6933">
            <a:solidFill>
              <a:srgbClr val="E6E1E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388533" y="4778375"/>
            <a:ext cx="247650" cy="24765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6" name="Text 14"/>
          <p:cNvSpPr/>
          <p:nvPr/>
        </p:nvSpPr>
        <p:spPr>
          <a:xfrm>
            <a:off x="1807633" y="4728633"/>
            <a:ext cx="1416427" cy="3852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1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Moderate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4512733" y="4741333"/>
            <a:ext cx="2305050" cy="3598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6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51 – 75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6874933" y="4741333"/>
            <a:ext cx="11026987" cy="3598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6B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 classical crypto — TLS 1.3, ECDHE, SHA-256 — but no PQC yet</a:t>
            </a:r>
            <a:endParaRPr lang="en-US" sz="1950" dirty="0"/>
          </a:p>
        </p:txBody>
      </p:sp>
      <p:sp>
        <p:nvSpPr>
          <p:cNvPr id="19" name="Shape 17"/>
          <p:cNvSpPr/>
          <p:nvPr/>
        </p:nvSpPr>
        <p:spPr>
          <a:xfrm>
            <a:off x="1047750" y="5511800"/>
            <a:ext cx="16192500" cy="800100"/>
          </a:xfrm>
          <a:prstGeom prst="roundRect">
            <a:avLst>
              <a:gd name="adj" fmla="val 16667"/>
            </a:avLst>
          </a:prstGeom>
          <a:solidFill>
            <a:srgbClr val="F1EBFB"/>
          </a:solidFill>
          <a:ln w="16933">
            <a:solidFill>
              <a:srgbClr val="2E8B5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388533" y="5788025"/>
            <a:ext cx="247650" cy="247650"/>
          </a:xfrm>
          <a:prstGeom prst="ellipse">
            <a:avLst/>
          </a:prstGeom>
          <a:solidFill>
            <a:srgbClr val="2E8B57"/>
          </a:solidFill>
          <a:ln/>
        </p:spPr>
      </p:sp>
      <p:sp>
        <p:nvSpPr>
          <p:cNvPr id="21" name="Text 19"/>
          <p:cNvSpPr/>
          <p:nvPr/>
        </p:nvSpPr>
        <p:spPr>
          <a:xfrm>
            <a:off x="1807633" y="5738283"/>
            <a:ext cx="957263" cy="3852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1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Ready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4512733" y="5750983"/>
            <a:ext cx="2305050" cy="3598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6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76 – 100</a:t>
            </a:r>
            <a:endParaRPr lang="en-US" sz="1950" dirty="0"/>
          </a:p>
        </p:txBody>
      </p:sp>
      <p:sp>
        <p:nvSpPr>
          <p:cNvPr id="23" name="Text 21"/>
          <p:cNvSpPr/>
          <p:nvPr/>
        </p:nvSpPr>
        <p:spPr>
          <a:xfrm>
            <a:off x="6874933" y="5750983"/>
            <a:ext cx="11026987" cy="3598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1B1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PQC detected — ML-KEM key exchange or ML-DSA certificates — or transition complete</a:t>
            </a:r>
            <a:endParaRPr lang="en-US" sz="1950" dirty="0"/>
          </a:p>
        </p:txBody>
      </p:sp>
      <p:sp>
        <p:nvSpPr>
          <p:cNvPr id="24" name="Shape 22"/>
          <p:cNvSpPr/>
          <p:nvPr/>
        </p:nvSpPr>
        <p:spPr>
          <a:xfrm>
            <a:off x="1047750" y="6521450"/>
            <a:ext cx="16192500" cy="800100"/>
          </a:xfrm>
          <a:prstGeom prst="roundRect">
            <a:avLst>
              <a:gd name="adj" fmla="val 16667"/>
            </a:avLst>
          </a:prstGeom>
          <a:solidFill>
            <a:srgbClr val="F7F5FA"/>
          </a:solidFill>
          <a:ln w="16933">
            <a:solidFill>
              <a:srgbClr val="E6E1EF"/>
            </a:solidFill>
            <a:prstDash val="dash"/>
          </a:ln>
        </p:spPr>
      </p:sp>
      <p:sp>
        <p:nvSpPr>
          <p:cNvPr id="25" name="Shape 23"/>
          <p:cNvSpPr/>
          <p:nvPr/>
        </p:nvSpPr>
        <p:spPr>
          <a:xfrm>
            <a:off x="1388533" y="6797675"/>
            <a:ext cx="247650" cy="247650"/>
          </a:xfrm>
          <a:prstGeom prst="ellipse">
            <a:avLst/>
          </a:prstGeom>
          <a:solidFill>
            <a:srgbClr val="8A8494"/>
          </a:solidFill>
          <a:ln/>
        </p:spPr>
      </p:sp>
      <p:sp>
        <p:nvSpPr>
          <p:cNvPr id="26" name="Text 24"/>
          <p:cNvSpPr/>
          <p:nvPr/>
        </p:nvSpPr>
        <p:spPr>
          <a:xfrm>
            <a:off x="1807633" y="6747933"/>
            <a:ext cx="584332" cy="3852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1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N/A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4512733" y="6760633"/>
            <a:ext cx="2305050" cy="3598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6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</a:t>
            </a:r>
            <a:endParaRPr lang="en-US" sz="1950" dirty="0"/>
          </a:p>
        </p:txBody>
      </p:sp>
      <p:sp>
        <p:nvSpPr>
          <p:cNvPr id="28" name="Text 26"/>
          <p:cNvSpPr/>
          <p:nvPr/>
        </p:nvSpPr>
        <p:spPr>
          <a:xfrm>
            <a:off x="6874933" y="6760633"/>
            <a:ext cx="11026987" cy="3598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6B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reachable TLS service — excluded from averages and roadmaps</a:t>
            </a:r>
            <a:endParaRPr lang="en-US" sz="1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CFB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914400"/>
            <a:ext cx="17811750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98" kern="0" dirty="0">
                <a:solidFill>
                  <a:srgbClr val="6D2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COMPLIANCE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047750" y="1322917"/>
            <a:ext cx="17811750" cy="7408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1B1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Regulatory Guidelines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1047750" y="2482850"/>
            <a:ext cx="5194300" cy="3021211"/>
          </a:xfrm>
          <a:prstGeom prst="roundRect">
            <a:avLst>
              <a:gd name="adj" fmla="val 5675"/>
            </a:avLst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1047750" y="5487127"/>
            <a:ext cx="5194300" cy="16933"/>
          </a:xfrm>
          <a:prstGeom prst="rect">
            <a:avLst/>
          </a:prstGeom>
          <a:solidFill>
            <a:srgbClr val="E6E1EF"/>
          </a:solidFill>
          <a:ln/>
        </p:spPr>
      </p:sp>
      <p:sp>
        <p:nvSpPr>
          <p:cNvPr id="6" name="Shape 4"/>
          <p:cNvSpPr/>
          <p:nvPr/>
        </p:nvSpPr>
        <p:spPr>
          <a:xfrm>
            <a:off x="1047750" y="2482850"/>
            <a:ext cx="5194300" cy="76200"/>
          </a:xfrm>
          <a:prstGeom prst="rect">
            <a:avLst/>
          </a:prstGeom>
          <a:solidFill>
            <a:srgbClr val="6D28D9"/>
          </a:solidFill>
          <a:ln/>
        </p:spPr>
      </p:sp>
      <p:sp>
        <p:nvSpPr>
          <p:cNvPr id="7" name="Shape 5"/>
          <p:cNvSpPr/>
          <p:nvPr/>
        </p:nvSpPr>
        <p:spPr>
          <a:xfrm>
            <a:off x="1047750" y="2482850"/>
            <a:ext cx="16933" cy="3021211"/>
          </a:xfrm>
          <a:prstGeom prst="rect">
            <a:avLst/>
          </a:prstGeom>
          <a:solidFill>
            <a:srgbClr val="E6E1EF"/>
          </a:solidFill>
          <a:ln/>
        </p:spPr>
      </p:sp>
      <p:sp>
        <p:nvSpPr>
          <p:cNvPr id="8" name="Shape 6"/>
          <p:cNvSpPr/>
          <p:nvPr/>
        </p:nvSpPr>
        <p:spPr>
          <a:xfrm>
            <a:off x="6225116" y="2482850"/>
            <a:ext cx="16933" cy="3021211"/>
          </a:xfrm>
          <a:prstGeom prst="rect">
            <a:avLst/>
          </a:prstGeom>
          <a:solidFill>
            <a:srgbClr val="E6E1EF"/>
          </a:solidFill>
          <a:ln/>
        </p:spPr>
      </p:sp>
      <p:sp>
        <p:nvSpPr>
          <p:cNvPr id="9" name="Text 7"/>
          <p:cNvSpPr/>
          <p:nvPr/>
        </p:nvSpPr>
        <p:spPr>
          <a:xfrm>
            <a:off x="1464733" y="2978150"/>
            <a:ext cx="4796367" cy="4995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150" b="1" dirty="0">
                <a:solidFill>
                  <a:srgbClr val="1B1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NIST</a:t>
            </a:r>
            <a:endParaRPr lang="en-US" sz="3150" dirty="0"/>
          </a:p>
        </p:txBody>
      </p:sp>
      <p:sp>
        <p:nvSpPr>
          <p:cNvPr id="10" name="Text 8"/>
          <p:cNvSpPr/>
          <p:nvPr/>
        </p:nvSpPr>
        <p:spPr>
          <a:xfrm>
            <a:off x="1464733" y="3496733"/>
            <a:ext cx="4796367" cy="3598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6D2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 800-131Ar3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1464733" y="4028017"/>
            <a:ext cx="4491143" cy="7314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239"/>
              </a:lnSpc>
              <a:buNone/>
            </a:pPr>
            <a:r>
              <a:rPr lang="en-US" sz="1950" dirty="0">
                <a:solidFill>
                  <a:srgbClr val="6B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 federal algorithm transitions — Oct 2024 draft, incl. PQC timeline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6546850" y="2482850"/>
            <a:ext cx="5194300" cy="3021211"/>
          </a:xfrm>
          <a:prstGeom prst="roundRect">
            <a:avLst>
              <a:gd name="adj" fmla="val 5675"/>
            </a:avLst>
          </a:pr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6546850" y="5487127"/>
            <a:ext cx="5194300" cy="16933"/>
          </a:xfrm>
          <a:prstGeom prst="rect">
            <a:avLst/>
          </a:prstGeom>
          <a:solidFill>
            <a:srgbClr val="E6E1EF"/>
          </a:solidFill>
          <a:ln/>
        </p:spPr>
      </p:sp>
      <p:sp>
        <p:nvSpPr>
          <p:cNvPr id="14" name="Shape 12"/>
          <p:cNvSpPr/>
          <p:nvPr/>
        </p:nvSpPr>
        <p:spPr>
          <a:xfrm>
            <a:off x="6546850" y="2482850"/>
            <a:ext cx="5194300" cy="76200"/>
          </a:xfrm>
          <a:prstGeom prst="rect">
            <a:avLst/>
          </a:prstGeom>
          <a:solidFill>
            <a:srgbClr val="6D28D9"/>
          </a:solidFill>
          <a:ln/>
        </p:spPr>
      </p:sp>
      <p:sp>
        <p:nvSpPr>
          <p:cNvPr id="15" name="Shape 13"/>
          <p:cNvSpPr/>
          <p:nvPr/>
        </p:nvSpPr>
        <p:spPr>
          <a:xfrm>
            <a:off x="6546850" y="2482850"/>
            <a:ext cx="16933" cy="3021211"/>
          </a:xfrm>
          <a:prstGeom prst="rect">
            <a:avLst/>
          </a:prstGeom>
          <a:solidFill>
            <a:srgbClr val="E6E1EF"/>
          </a:solidFill>
          <a:ln/>
        </p:spPr>
      </p:sp>
      <p:sp>
        <p:nvSpPr>
          <p:cNvPr id="16" name="Shape 14"/>
          <p:cNvSpPr/>
          <p:nvPr/>
        </p:nvSpPr>
        <p:spPr>
          <a:xfrm>
            <a:off x="11724216" y="2482850"/>
            <a:ext cx="16933" cy="3021211"/>
          </a:xfrm>
          <a:prstGeom prst="rect">
            <a:avLst/>
          </a:prstGeom>
          <a:solidFill>
            <a:srgbClr val="E6E1EF"/>
          </a:solidFill>
          <a:ln/>
        </p:spPr>
      </p:sp>
      <p:sp>
        <p:nvSpPr>
          <p:cNvPr id="17" name="Text 15"/>
          <p:cNvSpPr/>
          <p:nvPr/>
        </p:nvSpPr>
        <p:spPr>
          <a:xfrm>
            <a:off x="6963834" y="2978150"/>
            <a:ext cx="4796367" cy="4995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150" b="1" dirty="0">
                <a:solidFill>
                  <a:srgbClr val="1B1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BSI</a:t>
            </a:r>
            <a:endParaRPr lang="en-US" sz="3150" dirty="0"/>
          </a:p>
        </p:txBody>
      </p:sp>
      <p:sp>
        <p:nvSpPr>
          <p:cNvPr id="18" name="Text 16"/>
          <p:cNvSpPr/>
          <p:nvPr/>
        </p:nvSpPr>
        <p:spPr>
          <a:xfrm>
            <a:off x="6963834" y="3496733"/>
            <a:ext cx="4796367" cy="3598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6D2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TR-02102-1 (2026)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6963834" y="4028017"/>
            <a:ext cx="4491143" cy="10781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239"/>
              </a:lnSpc>
              <a:buNone/>
            </a:pPr>
            <a:r>
              <a:rPr lang="en-US" sz="1950" dirty="0">
                <a:solidFill>
                  <a:srgbClr val="6B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German federal cryptographic requirements and key-length recommendations</a:t>
            </a:r>
            <a:endParaRPr lang="en-US" sz="1950" dirty="0"/>
          </a:p>
        </p:txBody>
      </p:sp>
      <p:sp>
        <p:nvSpPr>
          <p:cNvPr id="20" name="Shape 18"/>
          <p:cNvSpPr/>
          <p:nvPr/>
        </p:nvSpPr>
        <p:spPr>
          <a:xfrm>
            <a:off x="12045950" y="2482850"/>
            <a:ext cx="5194300" cy="3021211"/>
          </a:xfrm>
          <a:prstGeom prst="roundRect">
            <a:avLst>
              <a:gd name="adj" fmla="val 5675"/>
            </a:avLst>
          </a:prstGeom>
          <a:solidFill>
            <a:srgbClr val="FFFFFF"/>
          </a:solidFill>
          <a:ln/>
        </p:spPr>
      </p:sp>
      <p:sp>
        <p:nvSpPr>
          <p:cNvPr id="21" name="Shape 19"/>
          <p:cNvSpPr/>
          <p:nvPr/>
        </p:nvSpPr>
        <p:spPr>
          <a:xfrm>
            <a:off x="12045950" y="5487127"/>
            <a:ext cx="5194300" cy="16933"/>
          </a:xfrm>
          <a:prstGeom prst="rect">
            <a:avLst/>
          </a:prstGeom>
          <a:solidFill>
            <a:srgbClr val="E6E1EF"/>
          </a:solidFill>
          <a:ln/>
        </p:spPr>
      </p:sp>
      <p:sp>
        <p:nvSpPr>
          <p:cNvPr id="22" name="Shape 20"/>
          <p:cNvSpPr/>
          <p:nvPr/>
        </p:nvSpPr>
        <p:spPr>
          <a:xfrm>
            <a:off x="12045950" y="2482850"/>
            <a:ext cx="5194300" cy="76200"/>
          </a:xfrm>
          <a:prstGeom prst="rect">
            <a:avLst/>
          </a:prstGeom>
          <a:solidFill>
            <a:srgbClr val="6D28D9"/>
          </a:solidFill>
          <a:ln/>
        </p:spPr>
      </p:sp>
      <p:sp>
        <p:nvSpPr>
          <p:cNvPr id="23" name="Shape 21"/>
          <p:cNvSpPr/>
          <p:nvPr/>
        </p:nvSpPr>
        <p:spPr>
          <a:xfrm>
            <a:off x="12045950" y="2482850"/>
            <a:ext cx="16933" cy="3021211"/>
          </a:xfrm>
          <a:prstGeom prst="rect">
            <a:avLst/>
          </a:prstGeom>
          <a:solidFill>
            <a:srgbClr val="E6E1EF"/>
          </a:solidFill>
          <a:ln/>
        </p:spPr>
      </p:sp>
      <p:sp>
        <p:nvSpPr>
          <p:cNvPr id="24" name="Shape 22"/>
          <p:cNvSpPr/>
          <p:nvPr/>
        </p:nvSpPr>
        <p:spPr>
          <a:xfrm>
            <a:off x="17223316" y="2482850"/>
            <a:ext cx="16933" cy="3021211"/>
          </a:xfrm>
          <a:prstGeom prst="rect">
            <a:avLst/>
          </a:prstGeom>
          <a:solidFill>
            <a:srgbClr val="E6E1EF"/>
          </a:solidFill>
          <a:ln/>
        </p:spPr>
      </p:sp>
      <p:sp>
        <p:nvSpPr>
          <p:cNvPr id="25" name="Text 23"/>
          <p:cNvSpPr/>
          <p:nvPr/>
        </p:nvSpPr>
        <p:spPr>
          <a:xfrm>
            <a:off x="12462933" y="2978150"/>
            <a:ext cx="4796367" cy="4995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150" b="1" dirty="0">
                <a:solidFill>
                  <a:srgbClr val="1B1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CCN</a:t>
            </a:r>
            <a:endParaRPr lang="en-US" sz="3150" dirty="0"/>
          </a:p>
        </p:txBody>
      </p:sp>
      <p:sp>
        <p:nvSpPr>
          <p:cNvPr id="26" name="Text 24"/>
          <p:cNvSpPr/>
          <p:nvPr/>
        </p:nvSpPr>
        <p:spPr>
          <a:xfrm>
            <a:off x="12462933" y="3496733"/>
            <a:ext cx="4796367" cy="3598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6D2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STIC-221 (2023)</a:t>
            </a:r>
            <a:endParaRPr lang="en-US" sz="1950" dirty="0"/>
          </a:p>
        </p:txBody>
      </p:sp>
      <p:sp>
        <p:nvSpPr>
          <p:cNvPr id="27" name="Text 25"/>
          <p:cNvSpPr/>
          <p:nvPr/>
        </p:nvSpPr>
        <p:spPr>
          <a:xfrm>
            <a:off x="12462933" y="4028017"/>
            <a:ext cx="4491143" cy="7314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239"/>
              </a:lnSpc>
              <a:buNone/>
            </a:pPr>
            <a:r>
              <a:rPr lang="en-US" sz="1950" dirty="0">
                <a:solidFill>
                  <a:srgbClr val="6B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Spanish national cryptography guidance for public-sector systems</a:t>
            </a:r>
            <a:endParaRPr lang="en-US" sz="1950" dirty="0"/>
          </a:p>
        </p:txBody>
      </p:sp>
      <p:sp>
        <p:nvSpPr>
          <p:cNvPr id="28" name="Shape 26"/>
          <p:cNvSpPr/>
          <p:nvPr/>
        </p:nvSpPr>
        <p:spPr>
          <a:xfrm>
            <a:off x="1047750" y="5961261"/>
            <a:ext cx="16192500" cy="1509580"/>
          </a:xfrm>
          <a:prstGeom prst="roundRect">
            <a:avLst>
              <a:gd name="adj" fmla="val 11357"/>
            </a:avLst>
          </a:prstGeom>
          <a:solidFill>
            <a:srgbClr val="F1EBFB"/>
          </a:solidFill>
          <a:ln/>
        </p:spPr>
      </p:sp>
      <p:sp>
        <p:nvSpPr>
          <p:cNvPr id="29" name="Text 27"/>
          <p:cNvSpPr/>
          <p:nvPr/>
        </p:nvSpPr>
        <p:spPr>
          <a:xfrm>
            <a:off x="1447800" y="6517084"/>
            <a:ext cx="624880" cy="4360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6D2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}</a:t>
            </a:r>
            <a:endParaRPr lang="en-US" sz="2400" dirty="0"/>
          </a:p>
        </p:txBody>
      </p:sp>
      <p:sp>
        <p:nvSpPr>
          <p:cNvPr id="30" name="Text 28"/>
          <p:cNvSpPr/>
          <p:nvPr/>
        </p:nvSpPr>
        <p:spPr>
          <a:xfrm>
            <a:off x="2282230" y="6285111"/>
            <a:ext cx="14994710" cy="899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927"/>
              </a:lnSpc>
              <a:buNone/>
            </a:pPr>
            <a:r>
              <a:rPr lang="en-US" sz="2400" dirty="0">
                <a:solidFill>
                  <a:srgbClr val="1B1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guideline is a </a:t>
            </a:r>
            <a:pPr algn="l" indent="0" marL="0">
              <a:lnSpc>
                <a:spcPct val="122927"/>
              </a:lnSpc>
              <a:buNone/>
            </a:pPr>
            <a:r>
              <a:rPr lang="en-US" sz="2400" b="1" dirty="0">
                <a:solidFill>
                  <a:srgbClr val="1B1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versioned JSON rule file </a:t>
            </a:r>
            <a:pPr algn="l" indent="0" marL="0">
              <a:lnSpc>
                <a:spcPct val="122927"/>
              </a:lnSpc>
              <a:buNone/>
            </a:pPr>
            <a:r>
              <a:rPr lang="en-US" sz="2400" dirty="0">
                <a:solidFill>
                  <a:srgbClr val="1B1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update the rules, re-assess every stored scan, no rescanning required.</a:t>
            </a:r>
            <a:endParaRPr lang="en-US" sz="2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CFB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914400"/>
            <a:ext cx="17811750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98" kern="0" dirty="0">
                <a:solidFill>
                  <a:srgbClr val="6D2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PRODUCT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047750" y="1322917"/>
            <a:ext cx="17811750" cy="7408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1B1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Dashboard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12668250" y="4180417"/>
            <a:ext cx="4572000" cy="16933"/>
          </a:xfrm>
          <a:prstGeom prst="rect">
            <a:avLst/>
          </a:prstGeom>
          <a:solidFill>
            <a:srgbClr val="E6E1EF"/>
          </a:solidFill>
          <a:ln/>
        </p:spPr>
      </p:sp>
      <p:sp>
        <p:nvSpPr>
          <p:cNvPr id="5" name="Text 3"/>
          <p:cNvSpPr/>
          <p:nvPr/>
        </p:nvSpPr>
        <p:spPr>
          <a:xfrm>
            <a:off x="12668250" y="3496733"/>
            <a:ext cx="414999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6D2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13178499" y="3484033"/>
            <a:ext cx="1332680" cy="3217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B1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14561476" y="3496733"/>
            <a:ext cx="2759137" cy="588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6B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summary, distribution, coverage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12668250" y="5050367"/>
            <a:ext cx="4572000" cy="16933"/>
          </a:xfrm>
          <a:prstGeom prst="rect">
            <a:avLst/>
          </a:prstGeom>
          <a:solidFill>
            <a:srgbClr val="E6E1EF"/>
          </a:solidFill>
          <a:ln/>
        </p:spPr>
      </p:sp>
      <p:sp>
        <p:nvSpPr>
          <p:cNvPr id="9" name="Text 7"/>
          <p:cNvSpPr/>
          <p:nvPr/>
        </p:nvSpPr>
        <p:spPr>
          <a:xfrm>
            <a:off x="12668250" y="4362450"/>
            <a:ext cx="428096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6D2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13191596" y="4349750"/>
            <a:ext cx="1462021" cy="605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B1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Report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14748867" y="4362450"/>
            <a:ext cx="2567517" cy="588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6B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community · region · country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12668250" y="5920317"/>
            <a:ext cx="4572000" cy="16933"/>
          </a:xfrm>
          <a:prstGeom prst="rect">
            <a:avLst/>
          </a:prstGeom>
          <a:solidFill>
            <a:srgbClr val="E6E1EF"/>
          </a:solidFill>
          <a:ln/>
        </p:spPr>
      </p:sp>
      <p:sp>
        <p:nvSpPr>
          <p:cNvPr id="13" name="Text 11"/>
          <p:cNvSpPr/>
          <p:nvPr/>
        </p:nvSpPr>
        <p:spPr>
          <a:xfrm>
            <a:off x="12668250" y="5232400"/>
            <a:ext cx="397404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6D2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13160905" y="5219700"/>
            <a:ext cx="1723760" cy="605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B1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Scan &amp; Discovery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14979915" y="5232400"/>
            <a:ext cx="2336602" cy="588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6B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runs, AI domain lists</a:t>
            </a:r>
            <a:endParaRPr lang="en-US" sz="1650" dirty="0"/>
          </a:p>
        </p:txBody>
      </p:sp>
      <p:sp>
        <p:nvSpPr>
          <p:cNvPr id="16" name="Shape 14"/>
          <p:cNvSpPr/>
          <p:nvPr/>
        </p:nvSpPr>
        <p:spPr>
          <a:xfrm>
            <a:off x="12668250" y="6510866"/>
            <a:ext cx="4572000" cy="16933"/>
          </a:xfrm>
          <a:prstGeom prst="rect">
            <a:avLst/>
          </a:prstGeom>
          <a:solidFill>
            <a:srgbClr val="E6E1EF"/>
          </a:solidFill>
          <a:ln/>
        </p:spPr>
      </p:sp>
      <p:sp>
        <p:nvSpPr>
          <p:cNvPr id="17" name="Text 15"/>
          <p:cNvSpPr/>
          <p:nvPr/>
        </p:nvSpPr>
        <p:spPr>
          <a:xfrm>
            <a:off x="12668250" y="6102350"/>
            <a:ext cx="457200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6D2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13220700" y="6089650"/>
            <a:ext cx="837803" cy="3217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B1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Trends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14153754" y="6102350"/>
            <a:ext cx="3276911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6B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 &amp; PQC adoption over time</a:t>
            </a:r>
            <a:endParaRPr lang="en-US" sz="1650" dirty="0"/>
          </a:p>
        </p:txBody>
      </p:sp>
      <p:sp>
        <p:nvSpPr>
          <p:cNvPr id="20" name="Shape 18"/>
          <p:cNvSpPr/>
          <p:nvPr/>
        </p:nvSpPr>
        <p:spPr>
          <a:xfrm>
            <a:off x="12668250" y="7101416"/>
            <a:ext cx="4572000" cy="16933"/>
          </a:xfrm>
          <a:prstGeom prst="rect">
            <a:avLst/>
          </a:prstGeom>
          <a:solidFill>
            <a:srgbClr val="E6E1EF"/>
          </a:solidFill>
          <a:ln/>
        </p:spPr>
      </p:sp>
      <p:sp>
        <p:nvSpPr>
          <p:cNvPr id="21" name="Text 19"/>
          <p:cNvSpPr/>
          <p:nvPr/>
        </p:nvSpPr>
        <p:spPr>
          <a:xfrm>
            <a:off x="12668250" y="6692900"/>
            <a:ext cx="457200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6D2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13220700" y="6680200"/>
            <a:ext cx="1342284" cy="3217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B1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 Monitor</a:t>
            </a:r>
            <a:endParaRPr lang="en-US" sz="1950" dirty="0"/>
          </a:p>
        </p:txBody>
      </p:sp>
      <p:sp>
        <p:nvSpPr>
          <p:cNvPr id="23" name="Text 21"/>
          <p:cNvSpPr/>
          <p:nvPr/>
        </p:nvSpPr>
        <p:spPr>
          <a:xfrm>
            <a:off x="14612408" y="6692900"/>
            <a:ext cx="2141412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6B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PQC certs in the wild</a:t>
            </a:r>
            <a:endParaRPr lang="en-US" sz="1650" dirty="0"/>
          </a:p>
        </p:txBody>
      </p:sp>
      <p:sp>
        <p:nvSpPr>
          <p:cNvPr id="24" name="Shape 22"/>
          <p:cNvSpPr/>
          <p:nvPr/>
        </p:nvSpPr>
        <p:spPr>
          <a:xfrm>
            <a:off x="12668250" y="7691966"/>
            <a:ext cx="4572000" cy="16933"/>
          </a:xfrm>
          <a:prstGeom prst="rect">
            <a:avLst/>
          </a:prstGeom>
          <a:solidFill>
            <a:srgbClr val="E6E1EF"/>
          </a:solidFill>
          <a:ln/>
        </p:spPr>
      </p:sp>
      <p:sp>
        <p:nvSpPr>
          <p:cNvPr id="25" name="Text 23"/>
          <p:cNvSpPr/>
          <p:nvPr/>
        </p:nvSpPr>
        <p:spPr>
          <a:xfrm>
            <a:off x="12668250" y="7283450"/>
            <a:ext cx="457200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6D2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1650" dirty="0"/>
          </a:p>
        </p:txBody>
      </p:sp>
      <p:sp>
        <p:nvSpPr>
          <p:cNvPr id="26" name="Text 24"/>
          <p:cNvSpPr/>
          <p:nvPr/>
        </p:nvSpPr>
        <p:spPr>
          <a:xfrm>
            <a:off x="13220700" y="7270750"/>
            <a:ext cx="1150011" cy="3217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B1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</a:t>
            </a:r>
            <a:endParaRPr lang="en-US" sz="1950" dirty="0"/>
          </a:p>
        </p:txBody>
      </p:sp>
      <p:sp>
        <p:nvSpPr>
          <p:cNvPr id="27" name="Text 25"/>
          <p:cNvSpPr/>
          <p:nvPr/>
        </p:nvSpPr>
        <p:spPr>
          <a:xfrm>
            <a:off x="14465961" y="7283450"/>
            <a:ext cx="2417538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6B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phased migration plans</a:t>
            </a:r>
            <a:endParaRPr lang="en-US" sz="1650" dirty="0"/>
          </a:p>
        </p:txBody>
      </p:sp>
      <p:sp>
        <p:nvSpPr>
          <p:cNvPr id="28" name="Text 26"/>
          <p:cNvSpPr/>
          <p:nvPr/>
        </p:nvSpPr>
        <p:spPr>
          <a:xfrm>
            <a:off x="12668250" y="7874000"/>
            <a:ext cx="414867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6D2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</a:t>
            </a:r>
            <a:endParaRPr lang="en-US" sz="1650" dirty="0"/>
          </a:p>
        </p:txBody>
      </p:sp>
      <p:sp>
        <p:nvSpPr>
          <p:cNvPr id="29" name="Text 27"/>
          <p:cNvSpPr/>
          <p:nvPr/>
        </p:nvSpPr>
        <p:spPr>
          <a:xfrm>
            <a:off x="13178367" y="7861300"/>
            <a:ext cx="1479153" cy="605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B1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TLS detail</a:t>
            </a:r>
            <a:endParaRPr lang="en-US" sz="1950" dirty="0"/>
          </a:p>
        </p:txBody>
      </p:sp>
      <p:sp>
        <p:nvSpPr>
          <p:cNvPr id="30" name="Text 28"/>
          <p:cNvSpPr/>
          <p:nvPr/>
        </p:nvSpPr>
        <p:spPr>
          <a:xfrm>
            <a:off x="14752770" y="7874000"/>
            <a:ext cx="2563680" cy="588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6B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cipher + SSL Labs grade</a:t>
            </a:r>
            <a:endParaRPr lang="en-US" sz="16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CFB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914400"/>
            <a:ext cx="17811750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98" kern="0" dirty="0">
                <a:solidFill>
                  <a:srgbClr val="6D2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GOVERNANCE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047750" y="1322917"/>
            <a:ext cx="17811750" cy="7408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1B1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Roles &amp; Communities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1047750" y="2482850"/>
            <a:ext cx="5194300" cy="2582069"/>
          </a:xfrm>
          <a:prstGeom prst="roundRect">
            <a:avLst>
              <a:gd name="adj" fmla="val 6640"/>
            </a:avLst>
          </a:prstGeom>
          <a:solidFill>
            <a:srgbClr val="1B1626"/>
          </a:solidFill>
          <a:ln/>
        </p:spPr>
      </p:sp>
      <p:sp>
        <p:nvSpPr>
          <p:cNvPr id="5" name="Text 3"/>
          <p:cNvSpPr/>
          <p:nvPr/>
        </p:nvSpPr>
        <p:spPr>
          <a:xfrm>
            <a:off x="1447800" y="2901950"/>
            <a:ext cx="4833620" cy="4995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</a:t>
            </a:r>
            <a:endParaRPr lang="en-US" sz="3150" dirty="0"/>
          </a:p>
        </p:txBody>
      </p:sp>
      <p:sp>
        <p:nvSpPr>
          <p:cNvPr id="6" name="Text 4"/>
          <p:cNvSpPr/>
          <p:nvPr/>
        </p:nvSpPr>
        <p:spPr>
          <a:xfrm>
            <a:off x="1447800" y="3534833"/>
            <a:ext cx="4526026" cy="11152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604"/>
              </a:lnSpc>
              <a:buNone/>
            </a:pPr>
            <a:r>
              <a:rPr lang="en-US" sz="1950" dirty="0">
                <a:solidFill>
                  <a:srgbClr val="C9C2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Runs scans, manages users, lists, organisations and communities. Sees everything. Full audit log.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6546850" y="2482850"/>
            <a:ext cx="5194300" cy="2582069"/>
          </a:xfrm>
          <a:prstGeom prst="roundRect">
            <a:avLst>
              <a:gd name="adj" fmla="val 6640"/>
            </a:avLst>
          </a:prstGeom>
          <a:solidFill>
            <a:srgbClr val="FFFFFF"/>
          </a:solidFill>
          <a:ln w="16933">
            <a:solidFill>
              <a:srgbClr val="6D28D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63834" y="2918883"/>
            <a:ext cx="4796367" cy="4995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150" b="1" dirty="0">
                <a:solidFill>
                  <a:srgbClr val="1B1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Community Manager</a:t>
            </a:r>
            <a:endParaRPr lang="en-US" sz="3150" dirty="0"/>
          </a:p>
        </p:txBody>
      </p:sp>
      <p:sp>
        <p:nvSpPr>
          <p:cNvPr id="9" name="Text 7"/>
          <p:cNvSpPr/>
          <p:nvPr/>
        </p:nvSpPr>
        <p:spPr>
          <a:xfrm>
            <a:off x="6963834" y="3551767"/>
            <a:ext cx="4491143" cy="11152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604"/>
              </a:lnSpc>
              <a:buNone/>
            </a:pPr>
            <a:r>
              <a:rPr lang="en-US" sz="1950" dirty="0">
                <a:solidFill>
                  <a:srgbClr val="6B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Aggregate group reports for assigned communities — by community, region or country. CSV / PDF export.</a:t>
            </a:r>
            <a:endParaRPr lang="en-US" sz="1950" dirty="0"/>
          </a:p>
        </p:txBody>
      </p:sp>
      <p:sp>
        <p:nvSpPr>
          <p:cNvPr id="10" name="Shape 8"/>
          <p:cNvSpPr/>
          <p:nvPr/>
        </p:nvSpPr>
        <p:spPr>
          <a:xfrm>
            <a:off x="12045950" y="2482850"/>
            <a:ext cx="5194300" cy="2582069"/>
          </a:xfrm>
          <a:prstGeom prst="roundRect">
            <a:avLst>
              <a:gd name="adj" fmla="val 6640"/>
            </a:avLst>
          </a:prstGeom>
          <a:solidFill>
            <a:srgbClr val="FFFFFF"/>
          </a:solidFill>
          <a:ln w="16933">
            <a:solidFill>
              <a:srgbClr val="E6E1E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462933" y="2918883"/>
            <a:ext cx="4796367" cy="4995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150" b="1" dirty="0">
                <a:solidFill>
                  <a:srgbClr val="1B1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Analyst</a:t>
            </a:r>
            <a:endParaRPr lang="en-US" sz="3150" dirty="0"/>
          </a:p>
        </p:txBody>
      </p:sp>
      <p:sp>
        <p:nvSpPr>
          <p:cNvPr id="12" name="Text 10"/>
          <p:cNvSpPr/>
          <p:nvPr/>
        </p:nvSpPr>
        <p:spPr>
          <a:xfrm>
            <a:off x="12462933" y="3551767"/>
            <a:ext cx="4491143" cy="11152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604"/>
              </a:lnSpc>
              <a:buNone/>
            </a:pPr>
            <a:r>
              <a:rPr lang="en-US" sz="1950" dirty="0">
                <a:solidFill>
                  <a:srgbClr val="6B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Read-only view of assigned domain lists only — assessments, trends, CT results, roadmaps.</a:t>
            </a:r>
            <a:endParaRPr lang="en-US" sz="1950" dirty="0"/>
          </a:p>
        </p:txBody>
      </p:sp>
      <p:sp>
        <p:nvSpPr>
          <p:cNvPr id="13" name="Shape 11"/>
          <p:cNvSpPr/>
          <p:nvPr/>
        </p:nvSpPr>
        <p:spPr>
          <a:xfrm>
            <a:off x="1047750" y="5522119"/>
            <a:ext cx="95250" cy="861880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/>
        </p:spPr>
      </p:sp>
      <p:sp>
        <p:nvSpPr>
          <p:cNvPr id="14" name="Text 12"/>
          <p:cNvSpPr/>
          <p:nvPr/>
        </p:nvSpPr>
        <p:spPr>
          <a:xfrm>
            <a:off x="1371600" y="5522119"/>
            <a:ext cx="14716125" cy="899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927"/>
              </a:lnSpc>
              <a:buNone/>
            </a:pPr>
            <a:r>
              <a:rPr lang="en-US" sz="2400" dirty="0">
                <a:solidFill>
                  <a:srgbClr val="1B1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for </a:t>
            </a:r>
            <a:pPr algn="l" indent="0" marL="0">
              <a:lnSpc>
                <a:spcPct val="122927"/>
              </a:lnSpc>
              <a:buNone/>
            </a:pPr>
            <a:r>
              <a:rPr lang="en-US" sz="2400" b="1" dirty="0">
                <a:solidFill>
                  <a:srgbClr val="1B1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multi-organisation communities </a:t>
            </a:r>
            <a:pPr algn="l" indent="0" marL="0">
              <a:lnSpc>
                <a:spcPct val="122927"/>
              </a:lnSpc>
              <a:buNone/>
            </a:pPr>
            <a:r>
              <a:rPr lang="en-US" sz="2400" dirty="0">
                <a:solidFill>
                  <a:srgbClr val="1B1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a sector CERT can host one instance, scope each member to its own estate, and publish shared progress reports.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047750" y="9474200"/>
            <a:ext cx="6965500" cy="279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i="1" dirty="0">
                <a:solidFill>
                  <a:srgbClr val="8A84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Yes, analysts are read-only. We love analysts. From a safe distance.</a:t>
            </a:r>
            <a:endParaRPr lang="en-US" sz="16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914400"/>
            <a:ext cx="17811750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98" kern="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OPERATING MODEL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047750" y="1322917"/>
            <a:ext cx="17811750" cy="7408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Migration Loop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1047750" y="4020542"/>
            <a:ext cx="2522207" cy="2628635"/>
          </a:xfrm>
          <a:prstGeom prst="roundRect">
            <a:avLst>
              <a:gd name="adj" fmla="val 6798"/>
            </a:avLst>
          </a:prstGeom>
          <a:solidFill>
            <a:srgbClr val="2A2338"/>
          </a:solidFill>
          <a:ln/>
        </p:spPr>
      </p:sp>
      <p:sp>
        <p:nvSpPr>
          <p:cNvPr id="5" name="Text 3"/>
          <p:cNvSpPr/>
          <p:nvPr/>
        </p:nvSpPr>
        <p:spPr>
          <a:xfrm>
            <a:off x="1277875" y="4401542"/>
            <a:ext cx="2061957" cy="4995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3150" b="1" dirty="0">
                <a:solidFill>
                  <a:srgbClr val="C4B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3150" dirty="0"/>
          </a:p>
        </p:txBody>
      </p:sp>
      <p:sp>
        <p:nvSpPr>
          <p:cNvPr id="6" name="Text 4"/>
          <p:cNvSpPr/>
          <p:nvPr/>
        </p:nvSpPr>
        <p:spPr>
          <a:xfrm>
            <a:off x="1277875" y="4977276"/>
            <a:ext cx="2061957" cy="3852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Discover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333500" y="5419659"/>
            <a:ext cx="1950707" cy="8866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7237"/>
              </a:lnSpc>
              <a:buNone/>
            </a:pPr>
            <a:r>
              <a:rPr lang="en-US" sz="1650" dirty="0">
                <a:solidFill>
                  <a:srgbClr val="A79F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the estate: domain lists, DNS enumeration, CT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3760457" y="5006776"/>
            <a:ext cx="590550" cy="694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050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4050" dirty="0"/>
          </a:p>
        </p:txBody>
      </p:sp>
      <p:sp>
        <p:nvSpPr>
          <p:cNvPr id="9" name="Shape 7"/>
          <p:cNvSpPr/>
          <p:nvPr/>
        </p:nvSpPr>
        <p:spPr>
          <a:xfrm>
            <a:off x="4465307" y="4020542"/>
            <a:ext cx="2522207" cy="2628635"/>
          </a:xfrm>
          <a:prstGeom prst="roundRect">
            <a:avLst>
              <a:gd name="adj" fmla="val 6798"/>
            </a:avLst>
          </a:prstGeom>
          <a:solidFill>
            <a:srgbClr val="2A2338"/>
          </a:solidFill>
          <a:ln/>
        </p:spPr>
      </p:sp>
      <p:sp>
        <p:nvSpPr>
          <p:cNvPr id="10" name="Text 8"/>
          <p:cNvSpPr/>
          <p:nvPr/>
        </p:nvSpPr>
        <p:spPr>
          <a:xfrm>
            <a:off x="4695431" y="4401542"/>
            <a:ext cx="2061957" cy="4995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3150" b="1" dirty="0">
                <a:solidFill>
                  <a:srgbClr val="C4B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3150" dirty="0"/>
          </a:p>
        </p:txBody>
      </p:sp>
      <p:sp>
        <p:nvSpPr>
          <p:cNvPr id="11" name="Text 9"/>
          <p:cNvSpPr/>
          <p:nvPr/>
        </p:nvSpPr>
        <p:spPr>
          <a:xfrm>
            <a:off x="4695431" y="4977276"/>
            <a:ext cx="2061957" cy="3852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Assess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4751057" y="5419659"/>
            <a:ext cx="1950707" cy="8866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7237"/>
              </a:lnSpc>
              <a:buNone/>
            </a:pPr>
            <a:r>
              <a:rPr lang="en-US" sz="1650" dirty="0">
                <a:solidFill>
                  <a:srgbClr val="A79F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Scan &amp; score every domain against the guidelines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7178014" y="5006776"/>
            <a:ext cx="590550" cy="694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050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4050" dirty="0"/>
          </a:p>
        </p:txBody>
      </p:sp>
      <p:sp>
        <p:nvSpPr>
          <p:cNvPr id="14" name="Shape 12"/>
          <p:cNvSpPr/>
          <p:nvPr/>
        </p:nvSpPr>
        <p:spPr>
          <a:xfrm>
            <a:off x="7882864" y="4020542"/>
            <a:ext cx="2522207" cy="2628635"/>
          </a:xfrm>
          <a:prstGeom prst="roundRect">
            <a:avLst>
              <a:gd name="adj" fmla="val 6798"/>
            </a:avLst>
          </a:prstGeom>
          <a:solidFill>
            <a:srgbClr val="2A2338"/>
          </a:solidFill>
          <a:ln/>
        </p:spPr>
      </p:sp>
      <p:sp>
        <p:nvSpPr>
          <p:cNvPr id="15" name="Text 13"/>
          <p:cNvSpPr/>
          <p:nvPr/>
        </p:nvSpPr>
        <p:spPr>
          <a:xfrm>
            <a:off x="8112988" y="4401542"/>
            <a:ext cx="2061957" cy="4995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3150" b="1" dirty="0">
                <a:solidFill>
                  <a:srgbClr val="C4B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3150" dirty="0"/>
          </a:p>
        </p:txBody>
      </p:sp>
      <p:sp>
        <p:nvSpPr>
          <p:cNvPr id="16" name="Text 14"/>
          <p:cNvSpPr/>
          <p:nvPr/>
        </p:nvSpPr>
        <p:spPr>
          <a:xfrm>
            <a:off x="8112988" y="4977276"/>
            <a:ext cx="2061957" cy="3852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8168614" y="5419659"/>
            <a:ext cx="1950707" cy="8866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7237"/>
              </a:lnSpc>
              <a:buNone/>
            </a:pPr>
            <a:r>
              <a:rPr lang="en-US" sz="1650" dirty="0">
                <a:solidFill>
                  <a:srgbClr val="A79F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 phased roadmaps; assign owners per org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10595571" y="5006776"/>
            <a:ext cx="590550" cy="694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050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4050" dirty="0"/>
          </a:p>
        </p:txBody>
      </p:sp>
      <p:sp>
        <p:nvSpPr>
          <p:cNvPr id="19" name="Shape 17"/>
          <p:cNvSpPr/>
          <p:nvPr/>
        </p:nvSpPr>
        <p:spPr>
          <a:xfrm>
            <a:off x="11300421" y="4020542"/>
            <a:ext cx="2522207" cy="2628635"/>
          </a:xfrm>
          <a:prstGeom prst="roundRect">
            <a:avLst>
              <a:gd name="adj" fmla="val 6798"/>
            </a:avLst>
          </a:prstGeom>
          <a:solidFill>
            <a:srgbClr val="2A2338"/>
          </a:solidFill>
          <a:ln/>
        </p:spPr>
      </p:sp>
      <p:sp>
        <p:nvSpPr>
          <p:cNvPr id="20" name="Text 18"/>
          <p:cNvSpPr/>
          <p:nvPr/>
        </p:nvSpPr>
        <p:spPr>
          <a:xfrm>
            <a:off x="11530545" y="4401542"/>
            <a:ext cx="2061957" cy="4995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3150" b="1" dirty="0">
                <a:solidFill>
                  <a:srgbClr val="C4B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3150" dirty="0"/>
          </a:p>
        </p:txBody>
      </p:sp>
      <p:sp>
        <p:nvSpPr>
          <p:cNvPr id="21" name="Text 19"/>
          <p:cNvSpPr/>
          <p:nvPr/>
        </p:nvSpPr>
        <p:spPr>
          <a:xfrm>
            <a:off x="11530545" y="4977276"/>
            <a:ext cx="2061957" cy="3852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Remediate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11586171" y="5419659"/>
            <a:ext cx="1950707" cy="8866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7237"/>
              </a:lnSpc>
              <a:buNone/>
            </a:pPr>
            <a:r>
              <a:rPr lang="en-US" sz="1650" dirty="0">
                <a:solidFill>
                  <a:srgbClr val="A79F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 named findings — specific ciphers, certs, protocols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14013127" y="5006776"/>
            <a:ext cx="590550" cy="694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050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4050" dirty="0"/>
          </a:p>
        </p:txBody>
      </p:sp>
      <p:sp>
        <p:nvSpPr>
          <p:cNvPr id="24" name="Shape 22"/>
          <p:cNvSpPr/>
          <p:nvPr/>
        </p:nvSpPr>
        <p:spPr>
          <a:xfrm>
            <a:off x="14717977" y="4020542"/>
            <a:ext cx="2522207" cy="2628635"/>
          </a:xfrm>
          <a:prstGeom prst="roundRect">
            <a:avLst>
              <a:gd name="adj" fmla="val 6798"/>
            </a:avLst>
          </a:prstGeom>
          <a:solidFill>
            <a:srgbClr val="4A1D8F"/>
          </a:solidFill>
          <a:ln/>
        </p:spPr>
      </p:sp>
      <p:sp>
        <p:nvSpPr>
          <p:cNvPr id="25" name="Text 23"/>
          <p:cNvSpPr/>
          <p:nvPr/>
        </p:nvSpPr>
        <p:spPr>
          <a:xfrm>
            <a:off x="14948102" y="4401542"/>
            <a:ext cx="2061957" cy="4995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3150" b="1" dirty="0">
                <a:solidFill>
                  <a:srgbClr val="DDD1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3150" dirty="0"/>
          </a:p>
        </p:txBody>
      </p:sp>
      <p:sp>
        <p:nvSpPr>
          <p:cNvPr id="26" name="Text 24"/>
          <p:cNvSpPr/>
          <p:nvPr/>
        </p:nvSpPr>
        <p:spPr>
          <a:xfrm>
            <a:off x="14948102" y="4977276"/>
            <a:ext cx="2061957" cy="3852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Re-scan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15003727" y="5419659"/>
            <a:ext cx="1950707" cy="8866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7237"/>
              </a:lnSpc>
              <a:buNone/>
            </a:pPr>
            <a:r>
              <a:rPr lang="en-US" sz="1650" dirty="0">
                <a:solidFill>
                  <a:srgbClr val="DDD1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Scheduled runs prove progress in the trend charts</a:t>
            </a:r>
            <a:endParaRPr lang="en-US" sz="1650" dirty="0"/>
          </a:p>
        </p:txBody>
      </p:sp>
      <p:sp>
        <p:nvSpPr>
          <p:cNvPr id="28" name="Text 26"/>
          <p:cNvSpPr/>
          <p:nvPr/>
        </p:nvSpPr>
        <p:spPr>
          <a:xfrm>
            <a:off x="1047750" y="8567870"/>
            <a:ext cx="16678275" cy="899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927"/>
              </a:lnSpc>
              <a:buNone/>
            </a:pPr>
            <a:r>
              <a:rPr lang="en-US" sz="2400" dirty="0">
                <a:solidFill>
                  <a:srgbClr val="C9C2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reports make progress </a:t>
            </a:r>
            <a:pPr algn="l" indent="0" marL="0">
              <a:lnSpc>
                <a:spcPct val="122927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comparable across member organisations </a:t>
            </a:r>
            <a:pPr algn="l" indent="0" marL="0">
              <a:lnSpc>
                <a:spcPct val="122927"/>
              </a:lnSpc>
              <a:buNone/>
            </a:pPr>
            <a:r>
              <a:rPr lang="en-US" sz="2400" dirty="0">
                <a:solidFill>
                  <a:srgbClr val="C9C2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a measurable programme, not a one-off audit.</a:t>
            </a:r>
            <a:endParaRPr lang="en-US" sz="2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CFB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914400"/>
            <a:ext cx="17811750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98" kern="0" dirty="0">
                <a:solidFill>
                  <a:srgbClr val="6D2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047750" y="1322917"/>
            <a:ext cx="17811750" cy="7408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1B1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Maturity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1047750" y="2482850"/>
            <a:ext cx="3848100" cy="2525183"/>
          </a:xfrm>
          <a:prstGeom prst="roundRect">
            <a:avLst>
              <a:gd name="adj" fmla="val 6790"/>
            </a:avLst>
          </a:prstGeom>
          <a:solidFill>
            <a:srgbClr val="FFFFFF"/>
          </a:solidFill>
          <a:ln w="16933">
            <a:solidFill>
              <a:srgbClr val="E6E1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72117" y="2880783"/>
            <a:ext cx="3399367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86747"/>
              </a:lnSpc>
              <a:buNone/>
            </a:pPr>
            <a:r>
              <a:rPr lang="en-US" sz="7200" b="1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1.9.1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1380278" y="3966633"/>
            <a:ext cx="3183043" cy="6815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950" dirty="0">
                <a:solidFill>
                  <a:srgbClr val="6B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release — 15 versions since 1.0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5162550" y="2482850"/>
            <a:ext cx="3848100" cy="2525183"/>
          </a:xfrm>
          <a:prstGeom prst="roundRect">
            <a:avLst>
              <a:gd name="adj" fmla="val 6790"/>
            </a:avLst>
          </a:prstGeom>
          <a:solidFill>
            <a:srgbClr val="FFFFFF"/>
          </a:solidFill>
          <a:ln w="16933">
            <a:solidFill>
              <a:srgbClr val="E6E1E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86917" y="2880783"/>
            <a:ext cx="3399367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86747"/>
              </a:lnSpc>
              <a:buNone/>
            </a:pPr>
            <a:r>
              <a:rPr lang="en-US" sz="7200" b="1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340+</a:t>
            </a:r>
            <a:endParaRPr lang="en-US" sz="7200" dirty="0"/>
          </a:p>
        </p:txBody>
      </p:sp>
      <p:sp>
        <p:nvSpPr>
          <p:cNvPr id="9" name="Text 7"/>
          <p:cNvSpPr/>
          <p:nvPr/>
        </p:nvSpPr>
        <p:spPr>
          <a:xfrm>
            <a:off x="5495078" y="3966633"/>
            <a:ext cx="3183043" cy="6815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950" dirty="0">
                <a:solidFill>
                  <a:srgbClr val="6B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 tests across scanner, scoring, RBAC</a:t>
            </a:r>
            <a:endParaRPr lang="en-US" sz="1950" dirty="0"/>
          </a:p>
        </p:txBody>
      </p:sp>
      <p:sp>
        <p:nvSpPr>
          <p:cNvPr id="10" name="Shape 8"/>
          <p:cNvSpPr/>
          <p:nvPr/>
        </p:nvSpPr>
        <p:spPr>
          <a:xfrm>
            <a:off x="9277350" y="2482850"/>
            <a:ext cx="3848100" cy="2525183"/>
          </a:xfrm>
          <a:prstGeom prst="roundRect">
            <a:avLst>
              <a:gd name="adj" fmla="val 6790"/>
            </a:avLst>
          </a:prstGeom>
          <a:solidFill>
            <a:srgbClr val="FFFFFF"/>
          </a:solidFill>
          <a:ln w="16933">
            <a:solidFill>
              <a:srgbClr val="E6E1E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501717" y="2880783"/>
            <a:ext cx="3399367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86747"/>
              </a:lnSpc>
              <a:buNone/>
            </a:pPr>
            <a:r>
              <a:rPr lang="en-US" sz="7200" b="1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7200" dirty="0"/>
          </a:p>
        </p:txBody>
      </p:sp>
      <p:sp>
        <p:nvSpPr>
          <p:cNvPr id="12" name="Text 10"/>
          <p:cNvSpPr/>
          <p:nvPr/>
        </p:nvSpPr>
        <p:spPr>
          <a:xfrm>
            <a:off x="9609878" y="3966633"/>
            <a:ext cx="3183043" cy="6815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950" dirty="0">
                <a:solidFill>
                  <a:srgbClr val="6B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 commands + full REST API</a:t>
            </a:r>
            <a:endParaRPr lang="en-US" sz="1950" dirty="0"/>
          </a:p>
        </p:txBody>
      </p:sp>
      <p:sp>
        <p:nvSpPr>
          <p:cNvPr id="13" name="Shape 11"/>
          <p:cNvSpPr/>
          <p:nvPr/>
        </p:nvSpPr>
        <p:spPr>
          <a:xfrm>
            <a:off x="13392150" y="2482850"/>
            <a:ext cx="3848100" cy="2525183"/>
          </a:xfrm>
          <a:prstGeom prst="roundRect">
            <a:avLst>
              <a:gd name="adj" fmla="val 6790"/>
            </a:avLst>
          </a:prstGeom>
          <a:solidFill>
            <a:srgbClr val="FFFFFF"/>
          </a:solidFill>
          <a:ln w="16933">
            <a:solidFill>
              <a:srgbClr val="E6E1E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3616517" y="2880783"/>
            <a:ext cx="3399367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86747"/>
              </a:lnSpc>
              <a:buNone/>
            </a:pPr>
            <a:r>
              <a:rPr lang="en-US" sz="7200" b="1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7200" dirty="0"/>
          </a:p>
        </p:txBody>
      </p:sp>
      <p:sp>
        <p:nvSpPr>
          <p:cNvPr id="15" name="Text 13"/>
          <p:cNvSpPr/>
          <p:nvPr/>
        </p:nvSpPr>
        <p:spPr>
          <a:xfrm>
            <a:off x="13724679" y="3966633"/>
            <a:ext cx="3183043" cy="6815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950" dirty="0">
                <a:solidFill>
                  <a:srgbClr val="6B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schema versions, automatic migrations</a:t>
            </a:r>
            <a:endParaRPr lang="en-US" sz="1950" dirty="0"/>
          </a:p>
        </p:txBody>
      </p:sp>
      <p:sp>
        <p:nvSpPr>
          <p:cNvPr id="16" name="Shape 14"/>
          <p:cNvSpPr/>
          <p:nvPr/>
        </p:nvSpPr>
        <p:spPr>
          <a:xfrm>
            <a:off x="1047750" y="5465233"/>
            <a:ext cx="7943850" cy="1726274"/>
          </a:xfrm>
          <a:prstGeom prst="roundRect">
            <a:avLst>
              <a:gd name="adj" fmla="val 9932"/>
            </a:avLst>
          </a:prstGeom>
          <a:solidFill>
            <a:srgbClr val="F1EBFB"/>
          </a:solidFill>
          <a:ln/>
        </p:spPr>
      </p:sp>
      <p:sp>
        <p:nvSpPr>
          <p:cNvPr id="17" name="Text 15"/>
          <p:cNvSpPr/>
          <p:nvPr/>
        </p:nvSpPr>
        <p:spPr>
          <a:xfrm>
            <a:off x="1428750" y="5770033"/>
            <a:ext cx="7900035" cy="3852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1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production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1428750" y="6193367"/>
            <a:ext cx="7397306" cy="7314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239"/>
              </a:lnSpc>
              <a:buNone/>
            </a:pPr>
            <a:r>
              <a:rPr lang="en-US" sz="1950" dirty="0">
                <a:solidFill>
                  <a:srgbClr val="6B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systemd services · Gunicorn · nginx TLS termination · scheduled scans on live estates</a:t>
            </a:r>
            <a:endParaRPr lang="en-US" sz="1950" dirty="0"/>
          </a:p>
        </p:txBody>
      </p:sp>
      <p:sp>
        <p:nvSpPr>
          <p:cNvPr id="19" name="Shape 17"/>
          <p:cNvSpPr/>
          <p:nvPr/>
        </p:nvSpPr>
        <p:spPr>
          <a:xfrm>
            <a:off x="9296400" y="5465233"/>
            <a:ext cx="7943850" cy="1726274"/>
          </a:xfrm>
          <a:prstGeom prst="roundRect">
            <a:avLst>
              <a:gd name="adj" fmla="val 9932"/>
            </a:avLst>
          </a:prstGeom>
          <a:solidFill>
            <a:srgbClr val="F1EBFB"/>
          </a:solidFill>
          <a:ln/>
        </p:spPr>
      </p:sp>
      <p:sp>
        <p:nvSpPr>
          <p:cNvPr id="20" name="Text 18"/>
          <p:cNvSpPr/>
          <p:nvPr/>
        </p:nvSpPr>
        <p:spPr>
          <a:xfrm>
            <a:off x="9677400" y="5770033"/>
            <a:ext cx="7900035" cy="3852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1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source, AI-assisted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9677400" y="6193367"/>
            <a:ext cx="7900035" cy="3847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239"/>
              </a:lnSpc>
              <a:buNone/>
            </a:pPr>
            <a:r>
              <a:rPr lang="en-US" sz="1950" dirty="0">
                <a:solidFill>
                  <a:srgbClr val="6B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GPL-3.0 · built with Claude, every line human-reviewed</a:t>
            </a:r>
            <a:endParaRPr lang="en-US" sz="1950" dirty="0"/>
          </a:p>
        </p:txBody>
      </p:sp>
      <p:sp>
        <p:nvSpPr>
          <p:cNvPr id="22" name="Text 20"/>
          <p:cNvSpPr/>
          <p:nvPr/>
        </p:nvSpPr>
        <p:spPr>
          <a:xfrm>
            <a:off x="1047750" y="9512300"/>
            <a:ext cx="8879681" cy="279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i="1" dirty="0">
                <a:solidFill>
                  <a:srgbClr val="8A84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releases, and only one of them was fixing what the previous one broke. Per release.</a:t>
            </a:r>
            <a:endParaRPr lang="en-US" sz="16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CFB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914400"/>
            <a:ext cx="17811750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98" kern="0" dirty="0">
                <a:solidFill>
                  <a:srgbClr val="6D2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WHAT'S NEXT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047750" y="1322917"/>
            <a:ext cx="17811750" cy="7408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1B1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Development Roadmap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1047750" y="2482850"/>
            <a:ext cx="5194300" cy="3143515"/>
          </a:xfrm>
          <a:prstGeom prst="roundRect">
            <a:avLst>
              <a:gd name="adj" fmla="val 5454"/>
            </a:avLst>
          </a:prstGeom>
          <a:solidFill>
            <a:srgbClr val="FFFFFF"/>
          </a:solidFill>
          <a:ln w="16933">
            <a:solidFill>
              <a:srgbClr val="E6E1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464733" y="2880783"/>
            <a:ext cx="4796367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6D2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NEAR TERM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1577128" y="3384550"/>
            <a:ext cx="4655397" cy="3847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173355" indent="-173355">
              <a:lnSpc>
                <a:spcPct val="122239"/>
              </a:lnSpc>
              <a:buSzPct val="100000"/>
              <a:buChar char="•"/>
              <a:tabLst>
                <a:tab pos="173355" algn="l"/>
              </a:tabLst>
            </a:pPr>
            <a:r>
              <a:rPr lang="en-US" sz="1950" dirty="0">
                <a:solidFill>
                  <a:srgbClr val="1B1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PDF reporting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1577128" y="3883620"/>
            <a:ext cx="4655397" cy="3847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173355" indent="-173355">
              <a:lnSpc>
                <a:spcPct val="122239"/>
              </a:lnSpc>
              <a:buSzPct val="100000"/>
              <a:buChar char="•"/>
              <a:tabLst>
                <a:tab pos="173355" algn="l"/>
              </a:tabLst>
            </a:pPr>
            <a:r>
              <a:rPr lang="en-US" sz="1950" dirty="0">
                <a:solidFill>
                  <a:srgbClr val="1B1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Certificate-expiry warnings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1577128" y="4382691"/>
            <a:ext cx="4655397" cy="3847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173355" indent="-173355">
              <a:lnSpc>
                <a:spcPct val="122239"/>
              </a:lnSpc>
              <a:buSzPct val="100000"/>
              <a:buChar char="•"/>
              <a:tabLst>
                <a:tab pos="173355" algn="l"/>
              </a:tabLst>
            </a:pPr>
            <a:r>
              <a:rPr lang="en-US" sz="1950" dirty="0">
                <a:solidFill>
                  <a:srgbClr val="1B1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 export (PDF / DOCX)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1577128" y="4881761"/>
            <a:ext cx="4655397" cy="3847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173355" indent="-173355">
              <a:lnSpc>
                <a:spcPct val="122239"/>
              </a:lnSpc>
              <a:buSzPct val="100000"/>
              <a:buChar char="•"/>
              <a:tabLst>
                <a:tab pos="173355" algn="l"/>
              </a:tabLst>
            </a:pPr>
            <a:r>
              <a:rPr lang="en-US" sz="1950" dirty="0">
                <a:solidFill>
                  <a:srgbClr val="1B1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Asset criticality weighting</a:t>
            </a:r>
            <a:endParaRPr lang="en-US" sz="1950" dirty="0"/>
          </a:p>
        </p:txBody>
      </p:sp>
      <p:sp>
        <p:nvSpPr>
          <p:cNvPr id="10" name="Shape 8"/>
          <p:cNvSpPr/>
          <p:nvPr/>
        </p:nvSpPr>
        <p:spPr>
          <a:xfrm>
            <a:off x="6546850" y="2482850"/>
            <a:ext cx="5194300" cy="3143515"/>
          </a:xfrm>
          <a:prstGeom prst="roundRect">
            <a:avLst>
              <a:gd name="adj" fmla="val 5454"/>
            </a:avLst>
          </a:prstGeom>
          <a:solidFill>
            <a:srgbClr val="FFFFFF"/>
          </a:solidFill>
          <a:ln w="16933">
            <a:solidFill>
              <a:srgbClr val="E6E1E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963834" y="2880783"/>
            <a:ext cx="4796367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6D2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MID TERM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7076229" y="3384550"/>
            <a:ext cx="4655397" cy="3847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173355" indent="-173355">
              <a:lnSpc>
                <a:spcPct val="122239"/>
              </a:lnSpc>
              <a:buSzPct val="100000"/>
              <a:buChar char="•"/>
              <a:tabLst>
                <a:tab pos="173355" algn="l"/>
              </a:tabLst>
            </a:pPr>
            <a:r>
              <a:rPr lang="en-US" sz="1950" dirty="0">
                <a:solidFill>
                  <a:srgbClr val="1B1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Geographic map view (choropleth)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7076229" y="3883620"/>
            <a:ext cx="4655397" cy="3847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173355" indent="-173355">
              <a:lnSpc>
                <a:spcPct val="122239"/>
              </a:lnSpc>
              <a:buSzPct val="100000"/>
              <a:buChar char="•"/>
              <a:tabLst>
                <a:tab pos="173355" algn="l"/>
              </a:tabLst>
            </a:pPr>
            <a:r>
              <a:rPr lang="en-US" sz="1950" dirty="0">
                <a:solidFill>
                  <a:srgbClr val="1B1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Sector benchmarking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7076229" y="4382691"/>
            <a:ext cx="4655397" cy="3847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173355" indent="-173355">
              <a:lnSpc>
                <a:spcPct val="122239"/>
              </a:lnSpc>
              <a:buSzPct val="100000"/>
              <a:buChar char="•"/>
              <a:tabLst>
                <a:tab pos="173355" algn="l"/>
              </a:tabLst>
            </a:pPr>
            <a:r>
              <a:rPr lang="en-US" sz="1950" dirty="0">
                <a:solidFill>
                  <a:srgbClr val="1B1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Budget estimation in roadmaps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7076229" y="4881761"/>
            <a:ext cx="4655397" cy="3847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173355" indent="-173355">
              <a:lnSpc>
                <a:spcPct val="122239"/>
              </a:lnSpc>
              <a:buSzPct val="100000"/>
              <a:buChar char="•"/>
              <a:tabLst>
                <a:tab pos="173355" algn="l"/>
              </a:tabLst>
            </a:pPr>
            <a:r>
              <a:rPr lang="en-US" sz="1950" dirty="0">
                <a:solidFill>
                  <a:srgbClr val="1B1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Service-type UI filtering</a:t>
            </a:r>
            <a:endParaRPr lang="en-US" sz="1950" dirty="0"/>
          </a:p>
        </p:txBody>
      </p:sp>
      <p:sp>
        <p:nvSpPr>
          <p:cNvPr id="16" name="Shape 14"/>
          <p:cNvSpPr/>
          <p:nvPr/>
        </p:nvSpPr>
        <p:spPr>
          <a:xfrm>
            <a:off x="12045950" y="2482850"/>
            <a:ext cx="5194300" cy="3143515"/>
          </a:xfrm>
          <a:prstGeom prst="roundRect">
            <a:avLst>
              <a:gd name="adj" fmla="val 5454"/>
            </a:avLst>
          </a:prstGeom>
          <a:solidFill>
            <a:srgbClr val="FFFFFF"/>
          </a:solidFill>
          <a:ln w="16933">
            <a:solidFill>
              <a:srgbClr val="E6E1E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462933" y="2880783"/>
            <a:ext cx="4796367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6D2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LONG TERM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12575328" y="3384550"/>
            <a:ext cx="4655397" cy="3847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173355" indent="-173355">
              <a:lnSpc>
                <a:spcPct val="122239"/>
              </a:lnSpc>
              <a:buSzPct val="100000"/>
              <a:buChar char="•"/>
              <a:tabLst>
                <a:tab pos="173355" algn="l"/>
              </a:tabLst>
            </a:pPr>
            <a:r>
              <a:rPr lang="en-US" sz="1950" dirty="0">
                <a:solidFill>
                  <a:srgbClr val="1B1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SAML / OIDC authentication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12575328" y="3883620"/>
            <a:ext cx="4655397" cy="3847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173355" indent="-173355">
              <a:lnSpc>
                <a:spcPct val="122239"/>
              </a:lnSpc>
              <a:buSzPct val="100000"/>
              <a:buChar char="•"/>
              <a:tabLst>
                <a:tab pos="173355" algn="l"/>
              </a:tabLst>
            </a:pPr>
            <a:r>
              <a:rPr lang="en-US" sz="1950" dirty="0">
                <a:solidFill>
                  <a:srgbClr val="1B1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Trend alerting (email / webhook)</a:t>
            </a:r>
            <a:endParaRPr lang="en-US" sz="1950" dirty="0"/>
          </a:p>
        </p:txBody>
      </p:sp>
      <p:sp>
        <p:nvSpPr>
          <p:cNvPr id="20" name="Text 18"/>
          <p:cNvSpPr/>
          <p:nvPr/>
        </p:nvSpPr>
        <p:spPr>
          <a:xfrm>
            <a:off x="12575328" y="4382691"/>
            <a:ext cx="4655397" cy="3847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173355" indent="-173355">
              <a:lnSpc>
                <a:spcPct val="122239"/>
              </a:lnSpc>
              <a:buSzPct val="100000"/>
              <a:buChar char="•"/>
              <a:tabLst>
                <a:tab pos="173355" algn="l"/>
              </a:tabLst>
            </a:pPr>
            <a:r>
              <a:rPr lang="en-US" sz="1950" dirty="0">
                <a:solidFill>
                  <a:srgbClr val="1B1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Multi-resource domain model</a:t>
            </a:r>
            <a:endParaRPr lang="en-US" sz="1950" dirty="0"/>
          </a:p>
        </p:txBody>
      </p:sp>
      <p:sp>
        <p:nvSpPr>
          <p:cNvPr id="21" name="Text 19"/>
          <p:cNvSpPr/>
          <p:nvPr/>
        </p:nvSpPr>
        <p:spPr>
          <a:xfrm>
            <a:off x="12575328" y="4881761"/>
            <a:ext cx="4655397" cy="3847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173355" indent="-173355">
              <a:lnSpc>
                <a:spcPct val="122239"/>
              </a:lnSpc>
              <a:buSzPct val="100000"/>
              <a:buChar char="•"/>
              <a:tabLst>
                <a:tab pos="173355" algn="l"/>
              </a:tabLst>
            </a:pPr>
            <a:r>
              <a:rPr lang="en-US" sz="1950" dirty="0">
                <a:solidFill>
                  <a:srgbClr val="1B1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 separation</a:t>
            </a:r>
            <a:endParaRPr lang="en-US" sz="1950" dirty="0"/>
          </a:p>
        </p:txBody>
      </p:sp>
      <p:sp>
        <p:nvSpPr>
          <p:cNvPr id="22" name="Text 20"/>
          <p:cNvSpPr/>
          <p:nvPr/>
        </p:nvSpPr>
        <p:spPr>
          <a:xfrm>
            <a:off x="1047750" y="6083565"/>
            <a:ext cx="16678275" cy="8915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927"/>
              </a:lnSpc>
              <a:buNone/>
            </a:pPr>
            <a:r>
              <a:rPr lang="en-US" sz="2400" dirty="0">
                <a:solidFill>
                  <a:srgbClr val="6B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Delivered from this backlog already: SSL Labs integration, DNS deep-enumeration, community reporting, country analytics.</a:t>
            </a:r>
            <a:endParaRPr lang="en-US" sz="2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B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95250"/>
          </a:xfrm>
          <a:prstGeom prst="rect">
            <a:avLst/>
          </a:prstGeom>
          <a:solidFill>
            <a:srgbClr val="6D28D9"/>
          </a:solidFill>
          <a:ln/>
        </p:spPr>
      </p:sp>
      <p:sp>
        <p:nvSpPr>
          <p:cNvPr id="3" name="Text 1"/>
          <p:cNvSpPr/>
          <p:nvPr/>
        </p:nvSpPr>
        <p:spPr>
          <a:xfrm>
            <a:off x="1047750" y="1743340"/>
            <a:ext cx="17811750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98" kern="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SUMMARY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1047750" y="2151856"/>
            <a:ext cx="17811750" cy="7408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Takeaways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1047750" y="3514990"/>
            <a:ext cx="647700" cy="4995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150" b="1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3150" dirty="0"/>
          </a:p>
        </p:txBody>
      </p:sp>
      <p:sp>
        <p:nvSpPr>
          <p:cNvPr id="6" name="Text 4"/>
          <p:cNvSpPr/>
          <p:nvPr/>
        </p:nvSpPr>
        <p:spPr>
          <a:xfrm>
            <a:off x="1962150" y="3464190"/>
            <a:ext cx="14264831" cy="11435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041"/>
              </a:lnSpc>
              <a:buNone/>
            </a:pPr>
            <a:r>
              <a:rPr lang="en-US" sz="3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PQC migration has a regulatory deadline — and the clock runs on </a:t>
            </a:r>
            <a:pPr algn="l" indent="0" marL="0">
              <a:lnSpc>
                <a:spcPct val="117041"/>
              </a:lnSpc>
              <a:buNone/>
            </a:pPr>
            <a:r>
              <a:rPr lang="en-US" sz="3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recorded today </a:t>
            </a:r>
            <a:pPr algn="l" indent="0" marL="0">
              <a:lnSpc>
                <a:spcPct val="117041"/>
              </a:lnSpc>
              <a:buNone/>
            </a:pPr>
            <a:r>
              <a:rPr lang="en-US" sz="3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3150" dirty="0"/>
          </a:p>
        </p:txBody>
      </p:sp>
      <p:sp>
        <p:nvSpPr>
          <p:cNvPr id="7" name="Text 5"/>
          <p:cNvSpPr/>
          <p:nvPr/>
        </p:nvSpPr>
        <p:spPr>
          <a:xfrm>
            <a:off x="1047750" y="5039519"/>
            <a:ext cx="647700" cy="4995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150" b="1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3150" dirty="0"/>
          </a:p>
        </p:txBody>
      </p:sp>
      <p:sp>
        <p:nvSpPr>
          <p:cNvPr id="8" name="Text 6"/>
          <p:cNvSpPr/>
          <p:nvPr/>
        </p:nvSpPr>
        <p:spPr>
          <a:xfrm>
            <a:off x="1962150" y="4988719"/>
            <a:ext cx="14264831" cy="11308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041"/>
              </a:lnSpc>
              <a:buNone/>
            </a:pPr>
            <a:r>
              <a:rPr lang="en-US" sz="3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PQC-Monitor gives a sector </a:t>
            </a:r>
            <a:pPr algn="l" indent="0" marL="0">
              <a:lnSpc>
                <a:spcPct val="117041"/>
              </a:lnSpc>
              <a:buNone/>
            </a:pPr>
            <a:r>
              <a:rPr lang="en-US" sz="3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shared, evidence-based picture </a:t>
            </a:r>
            <a:pPr algn="l" indent="0" marL="0">
              <a:lnSpc>
                <a:spcPct val="117041"/>
              </a:lnSpc>
              <a:buNone/>
            </a:pPr>
            <a:r>
              <a:rPr lang="en-US" sz="3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where every domain stands.</a:t>
            </a:r>
            <a:endParaRPr lang="en-US" sz="3150" dirty="0"/>
          </a:p>
        </p:txBody>
      </p:sp>
      <p:sp>
        <p:nvSpPr>
          <p:cNvPr id="9" name="Text 7"/>
          <p:cNvSpPr/>
          <p:nvPr/>
        </p:nvSpPr>
        <p:spPr>
          <a:xfrm>
            <a:off x="1047750" y="6551348"/>
            <a:ext cx="647700" cy="4995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150" b="1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3150" dirty="0"/>
          </a:p>
        </p:txBody>
      </p:sp>
      <p:sp>
        <p:nvSpPr>
          <p:cNvPr id="10" name="Text 8"/>
          <p:cNvSpPr/>
          <p:nvPr/>
        </p:nvSpPr>
        <p:spPr>
          <a:xfrm>
            <a:off x="1962150" y="6500548"/>
            <a:ext cx="14264831" cy="11308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041"/>
              </a:lnSpc>
              <a:buNone/>
            </a:pPr>
            <a:r>
              <a:rPr lang="en-US" sz="3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turns migration into a </a:t>
            </a:r>
            <a:pPr algn="l" indent="0" marL="0">
              <a:lnSpc>
                <a:spcPct val="117041"/>
              </a:lnSpc>
              <a:buNone/>
            </a:pPr>
            <a:r>
              <a:rPr lang="en-US" sz="3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measurable loop </a:t>
            </a:r>
            <a:pPr algn="l" indent="0" marL="0">
              <a:lnSpc>
                <a:spcPct val="117041"/>
              </a:lnSpc>
              <a:buNone/>
            </a:pPr>
            <a:r>
              <a:rPr lang="en-US" sz="3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scan, score, plan, fix, prove progress.</a:t>
            </a:r>
            <a:endParaRPr lang="en-US" sz="3150" dirty="0"/>
          </a:p>
        </p:txBody>
      </p:sp>
      <p:sp>
        <p:nvSpPr>
          <p:cNvPr id="11" name="Text 9"/>
          <p:cNvSpPr/>
          <p:nvPr/>
        </p:nvSpPr>
        <p:spPr>
          <a:xfrm>
            <a:off x="1047750" y="8279077"/>
            <a:ext cx="17811750" cy="3598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A79F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Annex follows — architecture, schema, API, deployment and scoring internals.</a:t>
            </a:r>
            <a:endParaRPr lang="en-US" sz="1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6D28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3670102"/>
            <a:ext cx="17811750" cy="4360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spc="336" kern="0" dirty="0">
                <a:solidFill>
                  <a:srgbClr val="DDD1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ANNEX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047750" y="4296635"/>
            <a:ext cx="17811750" cy="1219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Detail</a:t>
            </a:r>
            <a:endParaRPr lang="en-US" sz="8100" dirty="0"/>
          </a:p>
        </p:txBody>
      </p:sp>
      <p:sp>
        <p:nvSpPr>
          <p:cNvPr id="4" name="Text 2"/>
          <p:cNvSpPr/>
          <p:nvPr/>
        </p:nvSpPr>
        <p:spPr>
          <a:xfrm>
            <a:off x="1047750" y="5820635"/>
            <a:ext cx="12753975" cy="8915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927"/>
              </a:lnSpc>
              <a:buNone/>
            </a:pPr>
            <a:r>
              <a:rPr lang="en-US" sz="2400" dirty="0">
                <a:solidFill>
                  <a:srgbClr val="DDD1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· scanner modules · database schema · API surface · deployment · DNS enumeration · security · scoring internals</a:t>
            </a:r>
            <a:endParaRPr lang="en-US" sz="2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CFB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914400"/>
            <a:ext cx="17811750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98" kern="0" dirty="0">
                <a:solidFill>
                  <a:srgbClr val="6D2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ANNEX · A1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047750" y="1322917"/>
            <a:ext cx="17811750" cy="7408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1B1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Detail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1047750" y="2501900"/>
            <a:ext cx="1627981" cy="812800"/>
          </a:xfrm>
          <a:prstGeom prst="roundRect">
            <a:avLst>
              <a:gd name="adj" fmla="val 16406"/>
            </a:avLst>
          </a:prstGeom>
          <a:solidFill>
            <a:srgbClr val="FFFFFF"/>
          </a:solidFill>
          <a:ln w="16933">
            <a:solidFill>
              <a:srgbClr val="E6E1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407583" y="2766483"/>
            <a:ext cx="984515" cy="3217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B1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Browser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2904331" y="2664883"/>
            <a:ext cx="457200" cy="5249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3513931" y="2482850"/>
            <a:ext cx="4612680" cy="850900"/>
          </a:xfrm>
          <a:prstGeom prst="roundRect">
            <a:avLst>
              <a:gd name="adj" fmla="val 15672"/>
            </a:avLst>
          </a:prstGeom>
          <a:solidFill>
            <a:srgbClr val="FFFFFF"/>
          </a:solidFill>
          <a:ln w="16933">
            <a:solidFill>
              <a:srgbClr val="E6E1E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73765" y="2747433"/>
            <a:ext cx="4031393" cy="3598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B1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nginx</a:t>
            </a:r>
            <a:pPr algn="l" indent="0" marL="0">
              <a:buNone/>
            </a:pPr>
            <a:r>
              <a:rPr lang="en-US" sz="1950" dirty="0">
                <a:solidFill>
                  <a:srgbClr val="6B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TLS, HSTS, security headers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8355211" y="2664883"/>
            <a:ext cx="457200" cy="5249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8964811" y="2482850"/>
            <a:ext cx="3508640" cy="850900"/>
          </a:xfrm>
          <a:prstGeom prst="roundRect">
            <a:avLst>
              <a:gd name="adj" fmla="val 15672"/>
            </a:avLst>
          </a:prstGeom>
          <a:solidFill>
            <a:srgbClr val="FFFFFF"/>
          </a:solidFill>
          <a:ln w="16933">
            <a:solidFill>
              <a:srgbClr val="E6E1E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324644" y="2747433"/>
            <a:ext cx="2894232" cy="3598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B1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Gunicorn</a:t>
            </a:r>
            <a:pPr algn="l" indent="0" marL="0">
              <a:buNone/>
            </a:pPr>
            <a:r>
              <a:rPr lang="en-US" sz="1950" dirty="0">
                <a:solidFill>
                  <a:srgbClr val="6B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WSGI workers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12702050" y="2664883"/>
            <a:ext cx="457200" cy="5249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3000" dirty="0"/>
          </a:p>
        </p:txBody>
      </p:sp>
      <p:sp>
        <p:nvSpPr>
          <p:cNvPr id="13" name="Shape 11"/>
          <p:cNvSpPr/>
          <p:nvPr/>
        </p:nvSpPr>
        <p:spPr>
          <a:xfrm>
            <a:off x="13311650" y="2501900"/>
            <a:ext cx="2605352" cy="812800"/>
          </a:xfrm>
          <a:prstGeom prst="roundRect">
            <a:avLst>
              <a:gd name="adj" fmla="val 16406"/>
            </a:avLst>
          </a:prstGeom>
          <a:solidFill>
            <a:srgbClr val="F1EBFB"/>
          </a:solidFill>
          <a:ln w="16933">
            <a:solidFill>
              <a:srgbClr val="6D28D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3671484" y="2766483"/>
            <a:ext cx="1963846" cy="3217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B1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Flask app factory</a:t>
            </a:r>
            <a:endParaRPr lang="en-US" sz="1950" dirty="0"/>
          </a:p>
        </p:txBody>
      </p:sp>
      <p:sp>
        <p:nvSpPr>
          <p:cNvPr id="15" name="Shape 13"/>
          <p:cNvSpPr/>
          <p:nvPr/>
        </p:nvSpPr>
        <p:spPr>
          <a:xfrm>
            <a:off x="1047750" y="3752850"/>
            <a:ext cx="5219700" cy="1772841"/>
          </a:xfrm>
          <a:prstGeom prst="roundRect">
            <a:avLst>
              <a:gd name="adj" fmla="val 8596"/>
            </a:avLst>
          </a:prstGeom>
          <a:solidFill>
            <a:srgbClr val="FFFFFF"/>
          </a:solidFill>
          <a:ln w="16933">
            <a:solidFill>
              <a:srgbClr val="E6E1E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407583" y="4074583"/>
            <a:ext cx="4950037" cy="3598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6D2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/login · /logout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1407583" y="4510617"/>
            <a:ext cx="4635034" cy="7314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239"/>
              </a:lnSpc>
              <a:buNone/>
            </a:pPr>
            <a:r>
              <a:rPr lang="en-US" sz="1950" dirty="0">
                <a:solidFill>
                  <a:srgbClr val="6B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 blueprint — sessions, lockout, password policy</a:t>
            </a:r>
            <a:endParaRPr lang="en-US" sz="1950" dirty="0"/>
          </a:p>
        </p:txBody>
      </p:sp>
      <p:sp>
        <p:nvSpPr>
          <p:cNvPr id="18" name="Shape 16"/>
          <p:cNvSpPr/>
          <p:nvPr/>
        </p:nvSpPr>
        <p:spPr>
          <a:xfrm>
            <a:off x="6534150" y="3752850"/>
            <a:ext cx="5219700" cy="1772841"/>
          </a:xfrm>
          <a:prstGeom prst="roundRect">
            <a:avLst>
              <a:gd name="adj" fmla="val 8596"/>
            </a:avLst>
          </a:prstGeom>
          <a:solidFill>
            <a:srgbClr val="FFFFFF"/>
          </a:solidFill>
          <a:ln w="16933">
            <a:solidFill>
              <a:srgbClr val="E6E1E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93983" y="4074583"/>
            <a:ext cx="4950037" cy="3598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6D2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/app/*</a:t>
            </a:r>
            <a:endParaRPr lang="en-US" sz="1950" dirty="0"/>
          </a:p>
        </p:txBody>
      </p:sp>
      <p:sp>
        <p:nvSpPr>
          <p:cNvPr id="20" name="Text 18"/>
          <p:cNvSpPr/>
          <p:nvPr/>
        </p:nvSpPr>
        <p:spPr>
          <a:xfrm>
            <a:off x="6893983" y="4510617"/>
            <a:ext cx="4635034" cy="7314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239"/>
              </a:lnSpc>
              <a:buNone/>
            </a:pPr>
            <a:r>
              <a:rPr lang="en-US" sz="1950" dirty="0">
                <a:solidFill>
                  <a:srgbClr val="6B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analyst + community-manager API — RBAC-filtered on every endpoint</a:t>
            </a:r>
            <a:endParaRPr lang="en-US" sz="1950" dirty="0"/>
          </a:p>
        </p:txBody>
      </p:sp>
      <p:sp>
        <p:nvSpPr>
          <p:cNvPr id="21" name="Shape 19"/>
          <p:cNvSpPr/>
          <p:nvPr/>
        </p:nvSpPr>
        <p:spPr>
          <a:xfrm>
            <a:off x="12020550" y="3752850"/>
            <a:ext cx="5219700" cy="1772841"/>
          </a:xfrm>
          <a:prstGeom prst="roundRect">
            <a:avLst>
              <a:gd name="adj" fmla="val 8596"/>
            </a:avLst>
          </a:prstGeom>
          <a:solidFill>
            <a:srgbClr val="FFFFFF"/>
          </a:solidFill>
          <a:ln w="16933">
            <a:solidFill>
              <a:srgbClr val="E6E1E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2380384" y="4074583"/>
            <a:ext cx="4950037" cy="3598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6D2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/admin/*</a:t>
            </a:r>
            <a:endParaRPr lang="en-US" sz="1950" dirty="0"/>
          </a:p>
        </p:txBody>
      </p:sp>
      <p:sp>
        <p:nvSpPr>
          <p:cNvPr id="23" name="Text 21"/>
          <p:cNvSpPr/>
          <p:nvPr/>
        </p:nvSpPr>
        <p:spPr>
          <a:xfrm>
            <a:off x="12380384" y="4510617"/>
            <a:ext cx="4635034" cy="7314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239"/>
              </a:lnSpc>
              <a:buNone/>
            </a:pPr>
            <a:r>
              <a:rPr lang="en-US" sz="1950" dirty="0">
                <a:solidFill>
                  <a:srgbClr val="6B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SPA — users, domain lists, organisations, communities, audit log</a:t>
            </a:r>
            <a:endParaRPr lang="en-US" sz="1950" dirty="0"/>
          </a:p>
        </p:txBody>
      </p:sp>
      <p:sp>
        <p:nvSpPr>
          <p:cNvPr id="24" name="Shape 22"/>
          <p:cNvSpPr/>
          <p:nvPr/>
        </p:nvSpPr>
        <p:spPr>
          <a:xfrm>
            <a:off x="1047750" y="5906691"/>
            <a:ext cx="74282" cy="861880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/>
        </p:spPr>
      </p:sp>
      <p:sp>
        <p:nvSpPr>
          <p:cNvPr id="25" name="Text 23"/>
          <p:cNvSpPr/>
          <p:nvPr/>
        </p:nvSpPr>
        <p:spPr>
          <a:xfrm>
            <a:off x="1350632" y="5906691"/>
            <a:ext cx="16366307" cy="899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927"/>
              </a:lnSpc>
              <a:buNone/>
            </a:pPr>
            <a:r>
              <a:rPr lang="en-US" sz="2400" b="1" dirty="0">
                <a:solidFill>
                  <a:srgbClr val="1B1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independent systemd services </a:t>
            </a:r>
            <a:pPr algn="l" indent="0" marL="0">
              <a:lnSpc>
                <a:spcPct val="122927"/>
              </a:lnSpc>
              <a:buNone/>
            </a:pPr>
            <a:r>
              <a:rPr lang="en-US" sz="2400" dirty="0">
                <a:solidFill>
                  <a:srgbClr val="1B1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web (Gunicorn) and scheduler (APScheduler) — under one target. A scheduled scan never blocks a user request.</a:t>
            </a:r>
            <a:endParaRPr lang="en-US" sz="2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CFB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914400"/>
            <a:ext cx="17811750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98" kern="0" dirty="0">
                <a:solidFill>
                  <a:srgbClr val="6D2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ANNEX · A2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047750" y="1322917"/>
            <a:ext cx="17811750" cy="7408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1B1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Scanner Modules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1047750" y="3147483"/>
            <a:ext cx="7905750" cy="16933"/>
          </a:xfrm>
          <a:prstGeom prst="rect">
            <a:avLst/>
          </a:prstGeom>
          <a:solidFill>
            <a:srgbClr val="E6E1EF"/>
          </a:solidFill>
          <a:ln/>
        </p:spPr>
      </p:sp>
      <p:sp>
        <p:nvSpPr>
          <p:cNvPr id="5" name="Text 3"/>
          <p:cNvSpPr/>
          <p:nvPr/>
        </p:nvSpPr>
        <p:spPr>
          <a:xfrm>
            <a:off x="1047750" y="2654300"/>
            <a:ext cx="3562350" cy="3598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6D2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service_discovery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4476750" y="2654300"/>
            <a:ext cx="4924425" cy="3598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6B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TCP-connect ports + DANE/DNSSEC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9334500" y="3147483"/>
            <a:ext cx="7905750" cy="16933"/>
          </a:xfrm>
          <a:prstGeom prst="rect">
            <a:avLst/>
          </a:prstGeom>
          <a:solidFill>
            <a:srgbClr val="E6E1EF"/>
          </a:solidFill>
          <a:ln/>
        </p:spPr>
      </p:sp>
      <p:sp>
        <p:nvSpPr>
          <p:cNvPr id="8" name="Text 6"/>
          <p:cNvSpPr/>
          <p:nvPr/>
        </p:nvSpPr>
        <p:spPr>
          <a:xfrm>
            <a:off x="9334500" y="2654300"/>
            <a:ext cx="3562350" cy="3598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6D2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tls_probe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12763500" y="2654300"/>
            <a:ext cx="4924425" cy="3598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6B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handshake &amp; certificate extraction</a:t>
            </a:r>
            <a:endParaRPr lang="en-US" sz="1950" dirty="0"/>
          </a:p>
        </p:txBody>
      </p:sp>
      <p:sp>
        <p:nvSpPr>
          <p:cNvPr id="10" name="Shape 8"/>
          <p:cNvSpPr/>
          <p:nvPr/>
        </p:nvSpPr>
        <p:spPr>
          <a:xfrm>
            <a:off x="1047750" y="4303183"/>
            <a:ext cx="7905750" cy="16933"/>
          </a:xfrm>
          <a:prstGeom prst="rect">
            <a:avLst/>
          </a:prstGeom>
          <a:solidFill>
            <a:srgbClr val="E6E1EF"/>
          </a:solidFill>
          <a:ln/>
        </p:spPr>
      </p:sp>
      <p:sp>
        <p:nvSpPr>
          <p:cNvPr id="11" name="Text 9"/>
          <p:cNvSpPr/>
          <p:nvPr/>
        </p:nvSpPr>
        <p:spPr>
          <a:xfrm>
            <a:off x="1047750" y="3488267"/>
            <a:ext cx="3335655" cy="6815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6D2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starttls_probe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4476750" y="3488267"/>
            <a:ext cx="4611052" cy="6815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6B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SMTP/IMAP/POP3 upgrade, by protocol family</a:t>
            </a:r>
            <a:endParaRPr lang="en-US" sz="1950" dirty="0"/>
          </a:p>
        </p:txBody>
      </p:sp>
      <p:sp>
        <p:nvSpPr>
          <p:cNvPr id="13" name="Shape 11"/>
          <p:cNvSpPr/>
          <p:nvPr/>
        </p:nvSpPr>
        <p:spPr>
          <a:xfrm>
            <a:off x="9334500" y="4303183"/>
            <a:ext cx="7905750" cy="16933"/>
          </a:xfrm>
          <a:prstGeom prst="rect">
            <a:avLst/>
          </a:prstGeom>
          <a:solidFill>
            <a:srgbClr val="E6E1EF"/>
          </a:solidFill>
          <a:ln/>
        </p:spPr>
      </p:sp>
      <p:sp>
        <p:nvSpPr>
          <p:cNvPr id="14" name="Text 12"/>
          <p:cNvSpPr/>
          <p:nvPr/>
        </p:nvSpPr>
        <p:spPr>
          <a:xfrm>
            <a:off x="9334500" y="3488267"/>
            <a:ext cx="3335655" cy="6815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6D2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cipher_enum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12763500" y="3488267"/>
            <a:ext cx="4611052" cy="6815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6B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suite enumeration incl. CAMELLIA/SEED</a:t>
            </a:r>
            <a:endParaRPr lang="en-US" sz="1950" dirty="0"/>
          </a:p>
        </p:txBody>
      </p:sp>
      <p:sp>
        <p:nvSpPr>
          <p:cNvPr id="16" name="Shape 14"/>
          <p:cNvSpPr/>
          <p:nvPr/>
        </p:nvSpPr>
        <p:spPr>
          <a:xfrm>
            <a:off x="1047750" y="5137150"/>
            <a:ext cx="7905750" cy="16933"/>
          </a:xfrm>
          <a:prstGeom prst="rect">
            <a:avLst/>
          </a:prstGeom>
          <a:solidFill>
            <a:srgbClr val="E6E1EF"/>
          </a:solidFill>
          <a:ln/>
        </p:spPr>
      </p:sp>
      <p:sp>
        <p:nvSpPr>
          <p:cNvPr id="17" name="Text 15"/>
          <p:cNvSpPr/>
          <p:nvPr/>
        </p:nvSpPr>
        <p:spPr>
          <a:xfrm>
            <a:off x="1047750" y="4643967"/>
            <a:ext cx="3562350" cy="3598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6D2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chain_validator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4476750" y="4643967"/>
            <a:ext cx="4924425" cy="3598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6B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certificate chain analysis</a:t>
            </a:r>
            <a:endParaRPr lang="en-US" sz="1950" dirty="0"/>
          </a:p>
        </p:txBody>
      </p:sp>
      <p:sp>
        <p:nvSpPr>
          <p:cNvPr id="19" name="Shape 17"/>
          <p:cNvSpPr/>
          <p:nvPr/>
        </p:nvSpPr>
        <p:spPr>
          <a:xfrm>
            <a:off x="9334500" y="5137150"/>
            <a:ext cx="7905750" cy="16933"/>
          </a:xfrm>
          <a:prstGeom prst="rect">
            <a:avLst/>
          </a:prstGeom>
          <a:solidFill>
            <a:srgbClr val="E6E1EF"/>
          </a:solidFill>
          <a:ln/>
        </p:spPr>
      </p:sp>
      <p:sp>
        <p:nvSpPr>
          <p:cNvPr id="20" name="Text 18"/>
          <p:cNvSpPr/>
          <p:nvPr/>
        </p:nvSpPr>
        <p:spPr>
          <a:xfrm>
            <a:off x="9334500" y="4643967"/>
            <a:ext cx="3562350" cy="3598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6D2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cdn_detector</a:t>
            </a:r>
            <a:endParaRPr lang="en-US" sz="1950" dirty="0"/>
          </a:p>
        </p:txBody>
      </p:sp>
      <p:sp>
        <p:nvSpPr>
          <p:cNvPr id="21" name="Text 19"/>
          <p:cNvSpPr/>
          <p:nvPr/>
        </p:nvSpPr>
        <p:spPr>
          <a:xfrm>
            <a:off x="12763500" y="4643967"/>
            <a:ext cx="4924425" cy="3598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6B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Cloudflare, Fastly, Akamai fingerprints</a:t>
            </a:r>
            <a:endParaRPr lang="en-US" sz="1950" dirty="0"/>
          </a:p>
        </p:txBody>
      </p:sp>
      <p:sp>
        <p:nvSpPr>
          <p:cNvPr id="22" name="Shape 20"/>
          <p:cNvSpPr/>
          <p:nvPr/>
        </p:nvSpPr>
        <p:spPr>
          <a:xfrm>
            <a:off x="1047750" y="6292850"/>
            <a:ext cx="7905750" cy="16933"/>
          </a:xfrm>
          <a:prstGeom prst="rect">
            <a:avLst/>
          </a:prstGeom>
          <a:solidFill>
            <a:srgbClr val="E6E1EF"/>
          </a:solidFill>
          <a:ln/>
        </p:spPr>
      </p:sp>
      <p:sp>
        <p:nvSpPr>
          <p:cNvPr id="23" name="Text 21"/>
          <p:cNvSpPr/>
          <p:nvPr/>
        </p:nvSpPr>
        <p:spPr>
          <a:xfrm>
            <a:off x="1047750" y="5477934"/>
            <a:ext cx="3335655" cy="6815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6D2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dns_enumerator</a:t>
            </a:r>
            <a:endParaRPr lang="en-US" sz="1950" dirty="0"/>
          </a:p>
        </p:txBody>
      </p:sp>
      <p:sp>
        <p:nvSpPr>
          <p:cNvPr id="24" name="Text 22"/>
          <p:cNvSpPr/>
          <p:nvPr/>
        </p:nvSpPr>
        <p:spPr>
          <a:xfrm>
            <a:off x="4476750" y="5477934"/>
            <a:ext cx="4611052" cy="6815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6B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 SANs · wordlist · DNSDumpster · passive</a:t>
            </a:r>
            <a:endParaRPr lang="en-US" sz="1950" dirty="0"/>
          </a:p>
        </p:txBody>
      </p:sp>
      <p:sp>
        <p:nvSpPr>
          <p:cNvPr id="25" name="Shape 23"/>
          <p:cNvSpPr/>
          <p:nvPr/>
        </p:nvSpPr>
        <p:spPr>
          <a:xfrm>
            <a:off x="9334500" y="6292850"/>
            <a:ext cx="7905750" cy="16933"/>
          </a:xfrm>
          <a:prstGeom prst="rect">
            <a:avLst/>
          </a:prstGeom>
          <a:solidFill>
            <a:srgbClr val="E6E1EF"/>
          </a:solidFill>
          <a:ln/>
        </p:spPr>
      </p:sp>
      <p:sp>
        <p:nvSpPr>
          <p:cNvPr id="26" name="Text 24"/>
          <p:cNvSpPr/>
          <p:nvPr/>
        </p:nvSpPr>
        <p:spPr>
          <a:xfrm>
            <a:off x="9334500" y="5477934"/>
            <a:ext cx="3335655" cy="6815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6D2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crypto_extractor</a:t>
            </a:r>
            <a:endParaRPr lang="en-US" sz="1950" dirty="0"/>
          </a:p>
        </p:txBody>
      </p:sp>
      <p:sp>
        <p:nvSpPr>
          <p:cNvPr id="27" name="Text 25"/>
          <p:cNvSpPr/>
          <p:nvPr/>
        </p:nvSpPr>
        <p:spPr>
          <a:xfrm>
            <a:off x="12763500" y="5477934"/>
            <a:ext cx="4611052" cy="6815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6B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raw scan → normalised CryptoFacts</a:t>
            </a:r>
            <a:endParaRPr lang="en-US" sz="1950" dirty="0"/>
          </a:p>
        </p:txBody>
      </p:sp>
      <p:sp>
        <p:nvSpPr>
          <p:cNvPr id="28" name="Shape 26"/>
          <p:cNvSpPr/>
          <p:nvPr/>
        </p:nvSpPr>
        <p:spPr>
          <a:xfrm>
            <a:off x="1047750" y="7126817"/>
            <a:ext cx="7905750" cy="16933"/>
          </a:xfrm>
          <a:prstGeom prst="rect">
            <a:avLst/>
          </a:prstGeom>
          <a:solidFill>
            <a:srgbClr val="E6E1EF"/>
          </a:solidFill>
          <a:ln/>
        </p:spPr>
      </p:sp>
      <p:sp>
        <p:nvSpPr>
          <p:cNvPr id="29" name="Text 27"/>
          <p:cNvSpPr/>
          <p:nvPr/>
        </p:nvSpPr>
        <p:spPr>
          <a:xfrm>
            <a:off x="1047750" y="6633633"/>
            <a:ext cx="3562350" cy="3598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6D2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crypto_assessor</a:t>
            </a:r>
            <a:endParaRPr lang="en-US" sz="1950" dirty="0"/>
          </a:p>
        </p:txBody>
      </p:sp>
      <p:sp>
        <p:nvSpPr>
          <p:cNvPr id="30" name="Text 28"/>
          <p:cNvSpPr/>
          <p:nvPr/>
        </p:nvSpPr>
        <p:spPr>
          <a:xfrm>
            <a:off x="4476750" y="6633633"/>
            <a:ext cx="4924425" cy="3598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6B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multi-guideline scoring engine</a:t>
            </a:r>
            <a:endParaRPr lang="en-US" sz="1950" dirty="0"/>
          </a:p>
        </p:txBody>
      </p:sp>
      <p:sp>
        <p:nvSpPr>
          <p:cNvPr id="31" name="Shape 29"/>
          <p:cNvSpPr/>
          <p:nvPr/>
        </p:nvSpPr>
        <p:spPr>
          <a:xfrm>
            <a:off x="9334500" y="7126817"/>
            <a:ext cx="7905750" cy="16933"/>
          </a:xfrm>
          <a:prstGeom prst="rect">
            <a:avLst/>
          </a:prstGeom>
          <a:solidFill>
            <a:srgbClr val="E6E1EF"/>
          </a:solidFill>
          <a:ln/>
        </p:spPr>
      </p:sp>
      <p:sp>
        <p:nvSpPr>
          <p:cNvPr id="32" name="Text 30"/>
          <p:cNvSpPr/>
          <p:nvPr/>
        </p:nvSpPr>
        <p:spPr>
          <a:xfrm>
            <a:off x="9334500" y="6633633"/>
            <a:ext cx="3562350" cy="3598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6D2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shodan_client</a:t>
            </a:r>
            <a:endParaRPr lang="en-US" sz="1950" dirty="0"/>
          </a:p>
        </p:txBody>
      </p:sp>
      <p:sp>
        <p:nvSpPr>
          <p:cNvPr id="33" name="Text 31"/>
          <p:cNvSpPr/>
          <p:nvPr/>
        </p:nvSpPr>
        <p:spPr>
          <a:xfrm>
            <a:off x="12763500" y="6633633"/>
            <a:ext cx="4924425" cy="3598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6B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optional passive enrichment</a:t>
            </a:r>
            <a:endParaRPr lang="en-US" sz="1950" dirty="0"/>
          </a:p>
        </p:txBody>
      </p:sp>
      <p:sp>
        <p:nvSpPr>
          <p:cNvPr id="34" name="Shape 32"/>
          <p:cNvSpPr/>
          <p:nvPr/>
        </p:nvSpPr>
        <p:spPr>
          <a:xfrm>
            <a:off x="1047750" y="8282517"/>
            <a:ext cx="7905750" cy="16933"/>
          </a:xfrm>
          <a:prstGeom prst="rect">
            <a:avLst/>
          </a:prstGeom>
          <a:solidFill>
            <a:srgbClr val="E6E1EF"/>
          </a:solidFill>
          <a:ln/>
        </p:spPr>
      </p:sp>
      <p:sp>
        <p:nvSpPr>
          <p:cNvPr id="35" name="Text 33"/>
          <p:cNvSpPr/>
          <p:nvPr/>
        </p:nvSpPr>
        <p:spPr>
          <a:xfrm>
            <a:off x="1047750" y="7467600"/>
            <a:ext cx="3335655" cy="6815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6D2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ssllabs_client</a:t>
            </a:r>
            <a:endParaRPr lang="en-US" sz="1950" dirty="0"/>
          </a:p>
        </p:txBody>
      </p:sp>
      <p:sp>
        <p:nvSpPr>
          <p:cNvPr id="36" name="Text 34"/>
          <p:cNvSpPr/>
          <p:nvPr/>
        </p:nvSpPr>
        <p:spPr>
          <a:xfrm>
            <a:off x="4476750" y="7467600"/>
            <a:ext cx="4611052" cy="6815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6B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v4 — cache-only in scans, display-only grade</a:t>
            </a:r>
            <a:endParaRPr lang="en-US" sz="1950" dirty="0"/>
          </a:p>
        </p:txBody>
      </p:sp>
      <p:sp>
        <p:nvSpPr>
          <p:cNvPr id="37" name="Shape 35"/>
          <p:cNvSpPr/>
          <p:nvPr/>
        </p:nvSpPr>
        <p:spPr>
          <a:xfrm>
            <a:off x="9334500" y="8282517"/>
            <a:ext cx="7905750" cy="16933"/>
          </a:xfrm>
          <a:prstGeom prst="rect">
            <a:avLst/>
          </a:prstGeom>
          <a:solidFill>
            <a:srgbClr val="E6E1EF"/>
          </a:solidFill>
          <a:ln/>
        </p:spPr>
      </p:sp>
      <p:sp>
        <p:nvSpPr>
          <p:cNvPr id="38" name="Text 36"/>
          <p:cNvSpPr/>
          <p:nvPr/>
        </p:nvSpPr>
        <p:spPr>
          <a:xfrm>
            <a:off x="9334500" y="7467600"/>
            <a:ext cx="3335655" cy="6815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6D2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orchestrator</a:t>
            </a:r>
            <a:endParaRPr lang="en-US" sz="1950" dirty="0"/>
          </a:p>
        </p:txBody>
      </p:sp>
      <p:sp>
        <p:nvSpPr>
          <p:cNvPr id="39" name="Text 37"/>
          <p:cNvSpPr/>
          <p:nvPr/>
        </p:nvSpPr>
        <p:spPr>
          <a:xfrm>
            <a:off x="12763500" y="7467600"/>
            <a:ext cx="4611052" cy="6815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6B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parallel coordination of all of the above</a:t>
            </a:r>
            <a:endParaRPr lang="en-US" sz="1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CFB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914400"/>
            <a:ext cx="17811750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98" kern="0" dirty="0">
                <a:solidFill>
                  <a:srgbClr val="6D2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ANNEX · A3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047750" y="1322917"/>
            <a:ext cx="17811750" cy="7408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1B1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 Schema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1047750" y="2482850"/>
            <a:ext cx="5232400" cy="1952823"/>
          </a:xfrm>
          <a:prstGeom prst="roundRect">
            <a:avLst>
              <a:gd name="adj" fmla="val 7804"/>
            </a:avLst>
          </a:prstGeom>
          <a:solidFill>
            <a:srgbClr val="FFFFFF"/>
          </a:solidFill>
          <a:ln w="16933">
            <a:solidFill>
              <a:srgbClr val="E6E1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88533" y="2785533"/>
            <a:ext cx="5005917" cy="3598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6D2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scan_runs · assessments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388533" y="3221567"/>
            <a:ext cx="4687358" cy="9495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921"/>
              </a:lnSpc>
              <a:buNone/>
            </a:pPr>
            <a:r>
              <a:rPr lang="en-US" sz="1650" dirty="0">
                <a:solidFill>
                  <a:srgbClr val="6B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row per run; one assessment per domain per run — score, level, findings, ciphers, PQC flag, cert expiry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6527800" y="2482850"/>
            <a:ext cx="5232400" cy="1952823"/>
          </a:xfrm>
          <a:prstGeom prst="roundRect">
            <a:avLst>
              <a:gd name="adj" fmla="val 7804"/>
            </a:avLst>
          </a:prstGeom>
          <a:solidFill>
            <a:srgbClr val="FFFFFF"/>
          </a:solidFill>
          <a:ln w="16933">
            <a:solidFill>
              <a:srgbClr val="E6E1E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68584" y="2785533"/>
            <a:ext cx="5005917" cy="3598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6D2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domain_extra · tls_results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6868584" y="3221567"/>
            <a:ext cx="4687358" cy="9495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921"/>
              </a:lnSpc>
              <a:buNone/>
            </a:pPr>
            <a:r>
              <a:rPr lang="en-US" sz="1650" dirty="0">
                <a:solidFill>
                  <a:srgbClr val="6B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Keyed enrichment blobs — cipher_enum, chain, cdn, dns_enum, shodan, ssllabs — plus raw per-port probe results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12007850" y="2482850"/>
            <a:ext cx="5232400" cy="1952823"/>
          </a:xfrm>
          <a:prstGeom prst="roundRect">
            <a:avLst>
              <a:gd name="adj" fmla="val 7804"/>
            </a:avLst>
          </a:prstGeom>
          <a:solidFill>
            <a:srgbClr val="FFFFFF"/>
          </a:solidFill>
          <a:ln w="16933">
            <a:solidFill>
              <a:srgbClr val="E6E1E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348633" y="2785533"/>
            <a:ext cx="5005917" cy="3598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6D2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organisations · communities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12348633" y="3221567"/>
            <a:ext cx="4687358" cy="6457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921"/>
              </a:lnSpc>
              <a:buNone/>
            </a:pPr>
            <a:r>
              <a:rPr lang="en-US" sz="1650" dirty="0">
                <a:solidFill>
                  <a:srgbClr val="6B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 grouping with country/region; communities aggregate orgs for scoped group reporting (v17)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1047750" y="4683323"/>
            <a:ext cx="5232400" cy="1952823"/>
          </a:xfrm>
          <a:prstGeom prst="roundRect">
            <a:avLst>
              <a:gd name="adj" fmla="val 7804"/>
            </a:avLst>
          </a:prstGeom>
          <a:solidFill>
            <a:srgbClr val="FFFFFF"/>
          </a:solidFill>
          <a:ln w="16933">
            <a:solidFill>
              <a:srgbClr val="E6E1E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388533" y="4986007"/>
            <a:ext cx="5005917" cy="3598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6D2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users · user_domain_lists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1388533" y="5422040"/>
            <a:ext cx="4687358" cy="9495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921"/>
              </a:lnSpc>
              <a:buNone/>
            </a:pPr>
            <a:r>
              <a:rPr lang="en-US" sz="1650" dirty="0">
                <a:solidFill>
                  <a:srgbClr val="6B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RBAC tables — roles, domain-list and organisation assignments, community membership</a:t>
            </a:r>
            <a:endParaRPr lang="en-US" sz="1650" dirty="0"/>
          </a:p>
        </p:txBody>
      </p:sp>
      <p:sp>
        <p:nvSpPr>
          <p:cNvPr id="16" name="Shape 14"/>
          <p:cNvSpPr/>
          <p:nvPr/>
        </p:nvSpPr>
        <p:spPr>
          <a:xfrm>
            <a:off x="6527800" y="4683323"/>
            <a:ext cx="5232400" cy="1952823"/>
          </a:xfrm>
          <a:prstGeom prst="roundRect">
            <a:avLst>
              <a:gd name="adj" fmla="val 7804"/>
            </a:avLst>
          </a:prstGeom>
          <a:solidFill>
            <a:srgbClr val="FFFFFF"/>
          </a:solidFill>
          <a:ln w="16933">
            <a:solidFill>
              <a:srgbClr val="E6E1E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68584" y="4986007"/>
            <a:ext cx="5005917" cy="3598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6D2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ct_summaries · roadmaps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6868584" y="5422040"/>
            <a:ext cx="4687358" cy="6457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921"/>
              </a:lnSpc>
              <a:buNone/>
            </a:pPr>
            <a:r>
              <a:rPr lang="en-US" sz="1650" dirty="0">
                <a:solidFill>
                  <a:srgbClr val="6B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Certificate Transparency query results and saved migration roadmaps</a:t>
            </a:r>
            <a:endParaRPr lang="en-US" sz="1650" dirty="0"/>
          </a:p>
        </p:txBody>
      </p:sp>
      <p:sp>
        <p:nvSpPr>
          <p:cNvPr id="19" name="Shape 17"/>
          <p:cNvSpPr/>
          <p:nvPr/>
        </p:nvSpPr>
        <p:spPr>
          <a:xfrm>
            <a:off x="12007850" y="4683323"/>
            <a:ext cx="5232400" cy="1952823"/>
          </a:xfrm>
          <a:prstGeom prst="roundRect">
            <a:avLst>
              <a:gd name="adj" fmla="val 7804"/>
            </a:avLst>
          </a:prstGeom>
          <a:solidFill>
            <a:srgbClr val="FFFFFF"/>
          </a:solidFill>
          <a:ln w="16933">
            <a:solidFill>
              <a:srgbClr val="E6E1E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2348633" y="4986007"/>
            <a:ext cx="5005917" cy="3598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6D2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audit_log</a:t>
            </a:r>
            <a:endParaRPr lang="en-US" sz="1950" dirty="0"/>
          </a:p>
        </p:txBody>
      </p:sp>
      <p:sp>
        <p:nvSpPr>
          <p:cNvPr id="21" name="Text 19"/>
          <p:cNvSpPr/>
          <p:nvPr/>
        </p:nvSpPr>
        <p:spPr>
          <a:xfrm>
            <a:off x="12348633" y="5422040"/>
            <a:ext cx="4687358" cy="6457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921"/>
              </a:lnSpc>
              <a:buNone/>
            </a:pPr>
            <a:r>
              <a:rPr lang="en-US" sz="1650" dirty="0">
                <a:solidFill>
                  <a:srgbClr val="6B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login, data access and scan initiation — immutable trail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1047750" y="7055247"/>
            <a:ext cx="4880099" cy="6815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6D2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SQLite · WAL mode </a:t>
            </a:r>
            <a:pPr algn="l" indent="0" marL="0">
              <a:buNone/>
            </a:pPr>
            <a:r>
              <a:rPr lang="en-US" sz="1950" dirty="0">
                <a:solidFill>
                  <a:srgbClr val="6B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single file, zero ops</a:t>
            </a:r>
            <a:endParaRPr lang="en-US" sz="1950" dirty="0"/>
          </a:p>
        </p:txBody>
      </p:sp>
      <p:sp>
        <p:nvSpPr>
          <p:cNvPr id="23" name="Text 21"/>
          <p:cNvSpPr/>
          <p:nvPr/>
        </p:nvSpPr>
        <p:spPr>
          <a:xfrm>
            <a:off x="6357210" y="7055247"/>
            <a:ext cx="5480190" cy="6815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6D2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schema v17 </a:t>
            </a:r>
            <a:pPr algn="l" indent="0" marL="0">
              <a:buNone/>
            </a:pPr>
            <a:r>
              <a:rPr lang="en-US" sz="1950" dirty="0">
                <a:solidFill>
                  <a:srgbClr val="6B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incremental migrations on startup</a:t>
            </a:r>
            <a:endParaRPr lang="en-US" sz="1950" dirty="0"/>
          </a:p>
        </p:txBody>
      </p:sp>
      <p:sp>
        <p:nvSpPr>
          <p:cNvPr id="24" name="Text 22"/>
          <p:cNvSpPr/>
          <p:nvPr/>
        </p:nvSpPr>
        <p:spPr>
          <a:xfrm>
            <a:off x="12249283" y="7055247"/>
            <a:ext cx="5140697" cy="6815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6D2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newest-per-domain </a:t>
            </a:r>
            <a:pPr algn="l" indent="0" marL="0">
              <a:buNone/>
            </a:pPr>
            <a:r>
              <a:rPr lang="en-US" sz="1950" dirty="0">
                <a:solidFill>
                  <a:srgbClr val="6B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dashboard semantics</a:t>
            </a:r>
            <a:endParaRPr lang="en-US" sz="1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CFB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914400"/>
            <a:ext cx="17811750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98" kern="0" dirty="0">
                <a:solidFill>
                  <a:srgbClr val="6D2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ANNEX · A4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047750" y="1322917"/>
            <a:ext cx="17811750" cy="7408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1B1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Surface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1047750" y="2482850"/>
            <a:ext cx="7953375" cy="2413595"/>
          </a:xfrm>
          <a:prstGeom prst="roundRect">
            <a:avLst>
              <a:gd name="adj" fmla="val 6314"/>
            </a:avLst>
          </a:prstGeom>
          <a:solidFill>
            <a:srgbClr val="FFFFFF"/>
          </a:solidFill>
          <a:ln w="16933">
            <a:solidFill>
              <a:srgbClr val="E6E1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445683" y="2823633"/>
            <a:ext cx="7873259" cy="3852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1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Assessments &amp; trends</a:t>
            </a:r>
            <a:pPr algn="l" indent="0" marL="0">
              <a:buNone/>
            </a:pPr>
            <a:r>
              <a:rPr lang="en-US" sz="1650" dirty="0">
                <a:solidFill>
                  <a:srgbClr val="8A84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all roles, scoped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445683" y="3361267"/>
            <a:ext cx="7372234" cy="12324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7946"/>
              </a:lnSpc>
              <a:buNone/>
            </a:pPr>
            <a:r>
              <a:rPr lang="en-US" sz="1650" dirty="0">
                <a:solidFill>
                  <a:srgbClr val="6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/api/summary · /api/assessments GET /api/domain/&lt;domain&gt; · /api/runs filters: run · org · region · country · service_type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9286875" y="2482850"/>
            <a:ext cx="7953375" cy="2413595"/>
          </a:xfrm>
          <a:prstGeom prst="roundRect">
            <a:avLst>
              <a:gd name="adj" fmla="val 6314"/>
            </a:avLst>
          </a:prstGeom>
          <a:solidFill>
            <a:srgbClr val="FFFFFF"/>
          </a:solidFill>
          <a:ln w="16933">
            <a:solidFill>
              <a:srgbClr val="E6E1E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84808" y="2823633"/>
            <a:ext cx="7873259" cy="3852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1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reports</a:t>
            </a:r>
            <a:pPr algn="l" indent="0" marL="0">
              <a:buNone/>
            </a:pPr>
            <a:r>
              <a:rPr lang="en-US" sz="1650" dirty="0">
                <a:solidFill>
                  <a:srgbClr val="8A84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community manager +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9684808" y="3361267"/>
            <a:ext cx="7372234" cy="12324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7946"/>
              </a:lnSpc>
              <a:buNone/>
            </a:pPr>
            <a:r>
              <a:rPr lang="en-US" sz="1650" dirty="0">
                <a:solidFill>
                  <a:srgbClr val="6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/api/communities/&lt;id&gt;/report[.csv|.pdf] GET /api/regions/&lt;name&gt;/report[.csv|.pdf] GET /api/countries/&lt;cc&gt;/report[.csv|.pdf]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1047750" y="5182195"/>
            <a:ext cx="7953375" cy="2413595"/>
          </a:xfrm>
          <a:prstGeom prst="roundRect">
            <a:avLst>
              <a:gd name="adj" fmla="val 6314"/>
            </a:avLst>
          </a:prstGeom>
          <a:solidFill>
            <a:srgbClr val="FFFFFF"/>
          </a:solidFill>
          <a:ln w="16933">
            <a:solidFill>
              <a:srgbClr val="E6E1E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445683" y="5522979"/>
            <a:ext cx="7873259" cy="3852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1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Scanning &amp; discovery</a:t>
            </a:r>
            <a:pPr algn="l" indent="0" marL="0">
              <a:buNone/>
            </a:pPr>
            <a:r>
              <a:rPr lang="en-US" sz="1650" dirty="0">
                <a:solidFill>
                  <a:srgbClr val="8A84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admin only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445683" y="6060612"/>
            <a:ext cx="7372234" cy="12324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7946"/>
              </a:lnSpc>
              <a:buNone/>
            </a:pPr>
            <a:r>
              <a:rPr lang="en-US" sz="1650" dirty="0">
                <a:solidFill>
                  <a:srgbClr val="6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/api/scan · /api/reassess POST /api/discover · /api/dns-enumerate GET/POST /api/ssllabs/&lt;domain&gt;[/refresh]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9286875" y="5182195"/>
            <a:ext cx="7953375" cy="2413595"/>
          </a:xfrm>
          <a:prstGeom prst="roundRect">
            <a:avLst>
              <a:gd name="adj" fmla="val 6314"/>
            </a:avLst>
          </a:prstGeom>
          <a:solidFill>
            <a:srgbClr val="FFFFFF"/>
          </a:solidFill>
          <a:ln w="16933">
            <a:solidFill>
              <a:srgbClr val="E6E1E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84808" y="5522979"/>
            <a:ext cx="7873259" cy="3852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1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Administration</a:t>
            </a:r>
            <a:pPr algn="l" indent="0" marL="0">
              <a:buNone/>
            </a:pPr>
            <a:r>
              <a:rPr lang="en-US" sz="1650" dirty="0">
                <a:solidFill>
                  <a:srgbClr val="8A84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admin only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9684808" y="6060612"/>
            <a:ext cx="7372234" cy="12324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7946"/>
              </a:lnSpc>
              <a:buNone/>
            </a:pPr>
            <a:r>
              <a:rPr lang="en-US" sz="1650" dirty="0">
                <a:solidFill>
                  <a:srgbClr val="6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/admin/* — users, domain lists, organisations, communities, audit log CRUD /api/organisations</a:t>
            </a:r>
            <a:endParaRPr lang="en-US" sz="1650" dirty="0"/>
          </a:p>
        </p:txBody>
      </p:sp>
      <p:sp>
        <p:nvSpPr>
          <p:cNvPr id="16" name="Shape 14"/>
          <p:cNvSpPr/>
          <p:nvPr/>
        </p:nvSpPr>
        <p:spPr>
          <a:xfrm>
            <a:off x="1047750" y="7976790"/>
            <a:ext cx="84270" cy="853414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/>
        </p:spPr>
      </p:sp>
      <p:sp>
        <p:nvSpPr>
          <p:cNvPr id="17" name="Text 15"/>
          <p:cNvSpPr/>
          <p:nvPr/>
        </p:nvSpPr>
        <p:spPr>
          <a:xfrm>
            <a:off x="1360620" y="7976790"/>
            <a:ext cx="16356020" cy="8915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927"/>
              </a:lnSpc>
              <a:buNone/>
            </a:pPr>
            <a:r>
              <a:rPr lang="en-US" sz="2400" dirty="0">
                <a:solidFill>
                  <a:srgbClr val="1B1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endpoint is authenticated; every domain-data response passes </a:t>
            </a:r>
            <a:pPr algn="l" indent="0" marL="0">
              <a:lnSpc>
                <a:spcPct val="122927"/>
              </a:lnSpc>
              <a:buNone/>
            </a:pPr>
            <a:r>
              <a:rPr lang="en-US" sz="1950" dirty="0">
                <a:solidFill>
                  <a:srgbClr val="1B1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filter_assessments() </a:t>
            </a:r>
            <a:pPr algn="l" indent="0" marL="0">
              <a:lnSpc>
                <a:spcPct val="122927"/>
              </a:lnSpc>
              <a:buNone/>
            </a:pPr>
            <a:r>
              <a:rPr lang="en-US" sz="2400" dirty="0">
                <a:solidFill>
                  <a:srgbClr val="1B1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; every group report passes org-scoping.</a:t>
            </a:r>
            <a:endParaRPr lang="en-US" sz="2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CFB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914400"/>
            <a:ext cx="17811750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98" kern="0" dirty="0">
                <a:solidFill>
                  <a:srgbClr val="6D2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ANNEX · A5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047750" y="1322917"/>
            <a:ext cx="17811750" cy="7408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1B1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 Topology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1047750" y="3725333"/>
            <a:ext cx="8582885" cy="850900"/>
          </a:xfrm>
          <a:prstGeom prst="roundRect">
            <a:avLst>
              <a:gd name="adj" fmla="val 15672"/>
            </a:avLst>
          </a:prstGeom>
          <a:solidFill>
            <a:srgbClr val="FFFFFF"/>
          </a:solidFill>
          <a:ln w="16933">
            <a:solidFill>
              <a:srgbClr val="E6E1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88533" y="3989917"/>
            <a:ext cx="2942140" cy="3598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6D2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pqc-monitor.target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8025210" y="4013200"/>
            <a:ext cx="1391106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6B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group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1047750" y="4766733"/>
            <a:ext cx="4196226" cy="1477433"/>
          </a:xfrm>
          <a:prstGeom prst="roundRect">
            <a:avLst>
              <a:gd name="adj" fmla="val 9026"/>
            </a:avLst>
          </a:prstGeom>
          <a:solidFill>
            <a:srgbClr val="FFFFFF"/>
          </a:solidFill>
          <a:ln w="16933">
            <a:solidFill>
              <a:srgbClr val="E6E1E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88533" y="5031317"/>
            <a:ext cx="3866125" cy="3598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6D2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…-web.service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1388533" y="5429250"/>
            <a:ext cx="3620099" cy="588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6B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Gunicorn · 127.0.0.1:5000 · behind nginx TLS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5434476" y="4766733"/>
            <a:ext cx="4196226" cy="1477433"/>
          </a:xfrm>
          <a:prstGeom prst="roundRect">
            <a:avLst>
              <a:gd name="adj" fmla="val 9026"/>
            </a:avLst>
          </a:prstGeom>
          <a:solidFill>
            <a:srgbClr val="FFFFFF"/>
          </a:solidFill>
          <a:ln w="16933">
            <a:solidFill>
              <a:srgbClr val="E6E1E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775259" y="5031317"/>
            <a:ext cx="3866125" cy="3598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6D2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…-scheduler.service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5775259" y="5429250"/>
            <a:ext cx="3620099" cy="588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6B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APScheduler daemon · periodic scans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1047750" y="6434667"/>
            <a:ext cx="8582885" cy="1752600"/>
          </a:xfrm>
          <a:prstGeom prst="roundRect">
            <a:avLst>
              <a:gd name="adj" fmla="val 7609"/>
            </a:avLst>
          </a:prstGeom>
          <a:solidFill>
            <a:srgbClr val="F1EBFB"/>
          </a:solidFill>
          <a:ln/>
        </p:spPr>
      </p:sp>
      <p:sp>
        <p:nvSpPr>
          <p:cNvPr id="14" name="Text 12"/>
          <p:cNvSpPr/>
          <p:nvPr/>
        </p:nvSpPr>
        <p:spPr>
          <a:xfrm>
            <a:off x="1371600" y="6682317"/>
            <a:ext cx="8173240" cy="1295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6786"/>
              </a:lnSpc>
              <a:buNone/>
            </a:pPr>
            <a:r>
              <a:rPr lang="en-US" sz="1650" dirty="0">
                <a:solidFill>
                  <a:srgbClr val="1B1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/opt/pqc-monitor — code /etc/pqc-monitor — config + secrets (640, root:pqcmonitor) /var/lib/pqc-monitor — database &amp; scan data</a:t>
            </a:r>
            <a:endParaRPr lang="en-US" sz="1650" dirty="0"/>
          </a:p>
        </p:txBody>
      </p:sp>
      <p:sp>
        <p:nvSpPr>
          <p:cNvPr id="15" name="Shape 13"/>
          <p:cNvSpPr/>
          <p:nvPr/>
        </p:nvSpPr>
        <p:spPr>
          <a:xfrm>
            <a:off x="10087835" y="4795176"/>
            <a:ext cx="7152415" cy="16933"/>
          </a:xfrm>
          <a:prstGeom prst="rect">
            <a:avLst/>
          </a:prstGeom>
          <a:solidFill>
            <a:srgbClr val="E6E1EF"/>
          </a:solidFill>
          <a:ln/>
        </p:spPr>
      </p:sp>
      <p:sp>
        <p:nvSpPr>
          <p:cNvPr id="16" name="Text 14"/>
          <p:cNvSpPr/>
          <p:nvPr/>
        </p:nvSpPr>
        <p:spPr>
          <a:xfrm>
            <a:off x="10087835" y="3907102"/>
            <a:ext cx="7366988" cy="7356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239"/>
              </a:lnSpc>
              <a:buNone/>
            </a:pPr>
            <a:r>
              <a:rPr lang="en-US" sz="1950" b="1" dirty="0">
                <a:solidFill>
                  <a:srgbClr val="1B1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Minimal footprint </a:t>
            </a:r>
            <a:pPr algn="l" indent="0" marL="0">
              <a:lnSpc>
                <a:spcPct val="122239"/>
              </a:lnSpc>
              <a:buNone/>
            </a:pPr>
            <a:r>
              <a:rPr lang="en-US" sz="1950" dirty="0">
                <a:solidFill>
                  <a:srgbClr val="1B1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runs comfortably on a 1-vCPU cloud micro instance</a:t>
            </a:r>
            <a:endParaRPr lang="en-US" sz="1950" dirty="0"/>
          </a:p>
        </p:txBody>
      </p:sp>
      <p:sp>
        <p:nvSpPr>
          <p:cNvPr id="17" name="Shape 15"/>
          <p:cNvSpPr/>
          <p:nvPr/>
        </p:nvSpPr>
        <p:spPr>
          <a:xfrm>
            <a:off x="10087835" y="5928783"/>
            <a:ext cx="7152415" cy="16933"/>
          </a:xfrm>
          <a:prstGeom prst="rect">
            <a:avLst/>
          </a:prstGeom>
          <a:solidFill>
            <a:srgbClr val="E6E1EF"/>
          </a:solidFill>
          <a:ln/>
        </p:spPr>
      </p:sp>
      <p:sp>
        <p:nvSpPr>
          <p:cNvPr id="18" name="Text 16"/>
          <p:cNvSpPr/>
          <p:nvPr/>
        </p:nvSpPr>
        <p:spPr>
          <a:xfrm>
            <a:off x="10087835" y="5040709"/>
            <a:ext cx="7366988" cy="7356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239"/>
              </a:lnSpc>
              <a:buNone/>
            </a:pPr>
            <a:r>
              <a:rPr lang="en-US" sz="1950" b="1" dirty="0">
                <a:solidFill>
                  <a:srgbClr val="1B1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Non-privileged </a:t>
            </a:r>
            <a:pPr algn="l" indent="0" marL="0">
              <a:lnSpc>
                <a:spcPct val="122239"/>
              </a:lnSpc>
              <a:buNone/>
            </a:pPr>
            <a:r>
              <a:rPr lang="en-US" sz="1950" dirty="0">
                <a:solidFill>
                  <a:srgbClr val="1B1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dedicated </a:t>
            </a:r>
            <a:pPr algn="l" indent="0" marL="0">
              <a:lnSpc>
                <a:spcPct val="122239"/>
              </a:lnSpc>
              <a:buNone/>
            </a:pPr>
            <a:r>
              <a:rPr lang="en-US" sz="1950" dirty="0">
                <a:solidFill>
                  <a:srgbClr val="1B1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pqcmonitor </a:t>
            </a:r>
            <a:pPr algn="l" indent="0" marL="0">
              <a:lnSpc>
                <a:spcPct val="122239"/>
              </a:lnSpc>
              <a:buNone/>
            </a:pPr>
            <a:r>
              <a:rPr lang="en-US" sz="1950" dirty="0">
                <a:solidFill>
                  <a:srgbClr val="1B1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user, no root at runtime</a:t>
            </a:r>
            <a:endParaRPr lang="en-US" sz="1950" dirty="0"/>
          </a:p>
        </p:txBody>
      </p:sp>
      <p:sp>
        <p:nvSpPr>
          <p:cNvPr id="19" name="Shape 17"/>
          <p:cNvSpPr/>
          <p:nvPr/>
        </p:nvSpPr>
        <p:spPr>
          <a:xfrm>
            <a:off x="10087835" y="7062391"/>
            <a:ext cx="7152415" cy="16933"/>
          </a:xfrm>
          <a:prstGeom prst="rect">
            <a:avLst/>
          </a:prstGeom>
          <a:solidFill>
            <a:srgbClr val="E6E1EF"/>
          </a:solidFill>
          <a:ln/>
        </p:spPr>
      </p:sp>
      <p:sp>
        <p:nvSpPr>
          <p:cNvPr id="20" name="Text 18"/>
          <p:cNvSpPr/>
          <p:nvPr/>
        </p:nvSpPr>
        <p:spPr>
          <a:xfrm>
            <a:off x="10087835" y="6174317"/>
            <a:ext cx="7366988" cy="7356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239"/>
              </a:lnSpc>
              <a:buNone/>
            </a:pPr>
            <a:r>
              <a:rPr lang="en-US" sz="1950" b="1" dirty="0">
                <a:solidFill>
                  <a:srgbClr val="1B1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One-command install </a:t>
            </a:r>
            <a:pPr algn="l" indent="0" marL="0">
              <a:lnSpc>
                <a:spcPct val="122239"/>
              </a:lnSpc>
              <a:buNone/>
            </a:pPr>
            <a:r>
              <a:rPr lang="en-US" sz="1950" dirty="0">
                <a:solidFill>
                  <a:srgbClr val="1B1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</a:t>
            </a:r>
            <a:pPr algn="l" indent="0" marL="0">
              <a:lnSpc>
                <a:spcPct val="122239"/>
              </a:lnSpc>
              <a:buNone/>
            </a:pPr>
            <a:r>
              <a:rPr lang="en-US" sz="1950" dirty="0">
                <a:solidFill>
                  <a:srgbClr val="1B1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install.sh --production </a:t>
            </a:r>
            <a:pPr algn="l" indent="0" marL="0">
              <a:lnSpc>
                <a:spcPct val="122239"/>
              </a:lnSpc>
              <a:buNone/>
            </a:pPr>
            <a:r>
              <a:rPr lang="en-US" sz="1950" dirty="0">
                <a:solidFill>
                  <a:srgbClr val="1B1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preserves config &amp; DB on update</a:t>
            </a:r>
            <a:endParaRPr lang="en-US" sz="1950" dirty="0"/>
          </a:p>
        </p:txBody>
      </p:sp>
      <p:sp>
        <p:nvSpPr>
          <p:cNvPr id="21" name="Text 19"/>
          <p:cNvSpPr/>
          <p:nvPr/>
        </p:nvSpPr>
        <p:spPr>
          <a:xfrm>
            <a:off x="10087835" y="7307924"/>
            <a:ext cx="7366988" cy="7356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239"/>
              </a:lnSpc>
              <a:buNone/>
            </a:pPr>
            <a:r>
              <a:rPr lang="en-US" sz="1950" b="1" dirty="0">
                <a:solidFill>
                  <a:srgbClr val="1B1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Incremental deploys </a:t>
            </a:r>
            <a:pPr algn="l" indent="0" marL="0">
              <a:lnSpc>
                <a:spcPct val="122239"/>
              </a:lnSpc>
              <a:buNone/>
            </a:pPr>
            <a:r>
              <a:rPr lang="en-US" sz="1950" dirty="0">
                <a:solidFill>
                  <a:srgbClr val="1B1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</a:t>
            </a:r>
            <a:pPr algn="l" indent="0" marL="0">
              <a:lnSpc>
                <a:spcPct val="122239"/>
              </a:lnSpc>
              <a:buNone/>
            </a:pPr>
            <a:r>
              <a:rPr lang="en-US" sz="1950" dirty="0">
                <a:solidFill>
                  <a:srgbClr val="1B1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deploy.sh </a:t>
            </a:r>
            <a:pPr algn="l" indent="0" marL="0">
              <a:lnSpc>
                <a:spcPct val="122239"/>
              </a:lnSpc>
              <a:buNone/>
            </a:pPr>
            <a:r>
              <a:rPr lang="en-US" sz="1950" dirty="0">
                <a:solidFill>
                  <a:srgbClr val="1B1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syncs changed files, restarts only affected services</a:t>
            </a:r>
            <a:endParaRPr lang="en-US" sz="19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CFB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914400"/>
            <a:ext cx="17811750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98" kern="0" dirty="0">
                <a:solidFill>
                  <a:srgbClr val="6D2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ANNEX · A6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047750" y="1322917"/>
            <a:ext cx="17811750" cy="7408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1B1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DNS Enumeration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1047750" y="2482850"/>
            <a:ext cx="14859000" cy="850900"/>
          </a:xfrm>
          <a:prstGeom prst="roundRect">
            <a:avLst>
              <a:gd name="adj" fmla="val 15672"/>
            </a:avLst>
          </a:prstGeom>
          <a:solidFill>
            <a:srgbClr val="FFFFFF"/>
          </a:solidFill>
          <a:ln w="16933">
            <a:solidFill>
              <a:srgbClr val="E6E1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426633" y="2747433"/>
            <a:ext cx="3981450" cy="3598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6D2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· direct DNS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5331883" y="2747433"/>
            <a:ext cx="11215582" cy="3598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6B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A, AAAA, MX, NS, CNAME, TXT (SPF / DMARC) — normalised MX handling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1047750" y="3524250"/>
            <a:ext cx="14859000" cy="850900"/>
          </a:xfrm>
          <a:prstGeom prst="roundRect">
            <a:avLst>
              <a:gd name="adj" fmla="val 15672"/>
            </a:avLst>
          </a:prstGeom>
          <a:solidFill>
            <a:srgbClr val="FFFFFF"/>
          </a:solidFill>
          <a:ln w="16933">
            <a:solidFill>
              <a:srgbClr val="E6E1E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426633" y="3788833"/>
            <a:ext cx="3981450" cy="3598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6D2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· CT SANs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5331883" y="3788833"/>
            <a:ext cx="11215582" cy="3598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6B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crt.sh — subdomains revealed by issued certificates</a:t>
            </a:r>
            <a:endParaRPr lang="en-US" sz="1950" dirty="0"/>
          </a:p>
        </p:txBody>
      </p:sp>
      <p:sp>
        <p:nvSpPr>
          <p:cNvPr id="10" name="Shape 8"/>
          <p:cNvSpPr/>
          <p:nvPr/>
        </p:nvSpPr>
        <p:spPr>
          <a:xfrm>
            <a:off x="1047750" y="4565650"/>
            <a:ext cx="14859000" cy="850900"/>
          </a:xfrm>
          <a:prstGeom prst="roundRect">
            <a:avLst>
              <a:gd name="adj" fmla="val 15672"/>
            </a:avLst>
          </a:prstGeom>
          <a:solidFill>
            <a:srgbClr val="FFFFFF"/>
          </a:solidFill>
          <a:ln w="16933">
            <a:solidFill>
              <a:srgbClr val="E6E1E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426633" y="4830233"/>
            <a:ext cx="3981450" cy="3598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6D2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· wordlist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5331883" y="4830233"/>
            <a:ext cx="11215582" cy="3598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6B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~120 common prefixes resolved concurrently</a:t>
            </a:r>
            <a:endParaRPr lang="en-US" sz="1950" dirty="0"/>
          </a:p>
        </p:txBody>
      </p:sp>
      <p:sp>
        <p:nvSpPr>
          <p:cNvPr id="13" name="Shape 11"/>
          <p:cNvSpPr/>
          <p:nvPr/>
        </p:nvSpPr>
        <p:spPr>
          <a:xfrm>
            <a:off x="1047750" y="5607050"/>
            <a:ext cx="14859000" cy="850900"/>
          </a:xfrm>
          <a:prstGeom prst="roundRect">
            <a:avLst>
              <a:gd name="adj" fmla="val 15672"/>
            </a:avLst>
          </a:prstGeom>
          <a:solidFill>
            <a:srgbClr val="FFFFFF"/>
          </a:solidFill>
          <a:ln w="16933">
            <a:solidFill>
              <a:srgbClr val="E6E1E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426633" y="5871633"/>
            <a:ext cx="3981450" cy="3598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6D2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· DNSDumpster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5331883" y="5871633"/>
            <a:ext cx="11215582" cy="3598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6B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official REST API — session-level quota detection, fails soft</a:t>
            </a:r>
            <a:endParaRPr lang="en-US" sz="1950" dirty="0"/>
          </a:p>
        </p:txBody>
      </p:sp>
      <p:sp>
        <p:nvSpPr>
          <p:cNvPr id="16" name="Shape 14"/>
          <p:cNvSpPr/>
          <p:nvPr/>
        </p:nvSpPr>
        <p:spPr>
          <a:xfrm>
            <a:off x="1047750" y="6648450"/>
            <a:ext cx="14859000" cy="1172633"/>
          </a:xfrm>
          <a:prstGeom prst="roundRect">
            <a:avLst>
              <a:gd name="adj" fmla="val 11372"/>
            </a:avLst>
          </a:prstGeom>
          <a:solidFill>
            <a:srgbClr val="F1EBFB"/>
          </a:solidFill>
          <a:ln w="16933">
            <a:solidFill>
              <a:srgbClr val="6D28D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426633" y="7073900"/>
            <a:ext cx="3981450" cy="3598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6D2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· passive fallback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5331883" y="6913033"/>
            <a:ext cx="10501863" cy="6815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1B1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SRV probing (20 service prefixes) · AXFR attempts per NS · PTR reverse lookups — activates automatically when DNSDumpster is exhausted or unconfigured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1047750" y="9512300"/>
            <a:ext cx="6845955" cy="279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i="1" dirty="0">
                <a:solidFill>
                  <a:srgbClr val="8A84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AXFR: refused by everyone, attempted anyway. Hope is a strategy.</a:t>
            </a:r>
            <a:endParaRPr lang="en-US" sz="16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CFB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914400"/>
            <a:ext cx="17811750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98" kern="0" dirty="0">
                <a:solidFill>
                  <a:srgbClr val="6D2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ANNEX · A7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047750" y="1322917"/>
            <a:ext cx="17811750" cy="7408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1B1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&amp; RBAC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1047750" y="2482850"/>
            <a:ext cx="7953375" cy="3112558"/>
          </a:xfrm>
          <a:prstGeom prst="roundRect">
            <a:avLst>
              <a:gd name="adj" fmla="val 4896"/>
            </a:avLst>
          </a:prstGeom>
          <a:solidFill>
            <a:srgbClr val="FFFFFF"/>
          </a:solidFill>
          <a:ln w="16933">
            <a:solidFill>
              <a:srgbClr val="E6E1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464733" y="2842683"/>
            <a:ext cx="7831349" cy="3852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1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security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577128" y="3399367"/>
            <a:ext cx="7690379" cy="397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173355" indent="-173355">
              <a:lnSpc>
                <a:spcPct val="126604"/>
              </a:lnSpc>
              <a:buSzPct val="100000"/>
              <a:buChar char="•"/>
              <a:tabLst>
                <a:tab pos="173355" algn="l"/>
              </a:tabLst>
            </a:pPr>
            <a:r>
              <a:rPr lang="en-US" sz="1950" dirty="0">
                <a:solidFill>
                  <a:srgbClr val="6B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HMAC-signed cookies · HttpOnly · SameSite · Secure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1577128" y="3891756"/>
            <a:ext cx="7690379" cy="397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173355" indent="-173355">
              <a:lnSpc>
                <a:spcPct val="126604"/>
              </a:lnSpc>
              <a:buSzPct val="100000"/>
              <a:buChar char="•"/>
              <a:tabLst>
                <a:tab pos="173355" algn="l"/>
              </a:tabLst>
            </a:pPr>
            <a:r>
              <a:rPr lang="en-US" sz="1950" dirty="0">
                <a:solidFill>
                  <a:srgbClr val="6B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8-hour session lifetime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1577128" y="4384146"/>
            <a:ext cx="7690379" cy="397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173355" indent="-173355">
              <a:lnSpc>
                <a:spcPct val="126604"/>
              </a:lnSpc>
              <a:buSzPct val="100000"/>
              <a:buChar char="•"/>
              <a:tabLst>
                <a:tab pos="173355" algn="l"/>
              </a:tabLst>
            </a:pPr>
            <a:r>
              <a:rPr lang="en-US" sz="1950" dirty="0">
                <a:solidFill>
                  <a:srgbClr val="6B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failed logins → 15-minute lockout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1577128" y="4876535"/>
            <a:ext cx="7690379" cy="397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173355" indent="-173355">
              <a:lnSpc>
                <a:spcPct val="126604"/>
              </a:lnSpc>
              <a:buSzPct val="100000"/>
              <a:buChar char="•"/>
              <a:tabLst>
                <a:tab pos="173355" algn="l"/>
              </a:tabLst>
            </a:pPr>
            <a:r>
              <a:rPr lang="en-US" sz="1950" dirty="0">
                <a:solidFill>
                  <a:srgbClr val="6B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Per-IP login rate limiting</a:t>
            </a:r>
            <a:endParaRPr lang="en-US" sz="1950" dirty="0"/>
          </a:p>
        </p:txBody>
      </p:sp>
      <p:sp>
        <p:nvSpPr>
          <p:cNvPr id="10" name="Shape 8"/>
          <p:cNvSpPr/>
          <p:nvPr/>
        </p:nvSpPr>
        <p:spPr>
          <a:xfrm>
            <a:off x="9286875" y="2482850"/>
            <a:ext cx="7953375" cy="3112558"/>
          </a:xfrm>
          <a:prstGeom prst="roundRect">
            <a:avLst>
              <a:gd name="adj" fmla="val 4896"/>
            </a:avLst>
          </a:prstGeom>
          <a:solidFill>
            <a:srgbClr val="FFFFFF"/>
          </a:solidFill>
          <a:ln w="16933">
            <a:solidFill>
              <a:srgbClr val="E6E1E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703858" y="2842683"/>
            <a:ext cx="7831349" cy="3852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1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 control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9816254" y="3399367"/>
            <a:ext cx="7690379" cy="397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173355" indent="-173355">
              <a:lnSpc>
                <a:spcPct val="126604"/>
              </a:lnSpc>
              <a:buSzPct val="100000"/>
              <a:buChar char="•"/>
              <a:tabLst>
                <a:tab pos="173355" algn="l"/>
              </a:tabLst>
            </a:pPr>
            <a:r>
              <a:rPr lang="en-US" sz="1950" dirty="0">
                <a:solidFill>
                  <a:srgbClr val="6B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Permission strings checked per endpoint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9816254" y="3891756"/>
            <a:ext cx="7690379" cy="397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173355" indent="-173355">
              <a:lnSpc>
                <a:spcPct val="126604"/>
              </a:lnSpc>
              <a:buSzPct val="100000"/>
              <a:buChar char="•"/>
              <a:tabLst>
                <a:tab pos="173355" algn="l"/>
              </a:tabLst>
            </a:pPr>
            <a:r>
              <a:rPr lang="en-US" sz="1950" dirty="0">
                <a:solidFill>
                  <a:srgbClr val="6B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Domain-list scoping for analysts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9816254" y="4384146"/>
            <a:ext cx="7690379" cy="397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173355" indent="-173355">
              <a:lnSpc>
                <a:spcPct val="126604"/>
              </a:lnSpc>
              <a:buSzPct val="100000"/>
              <a:buChar char="•"/>
              <a:tabLst>
                <a:tab pos="173355" algn="l"/>
              </a:tabLst>
            </a:pPr>
            <a:r>
              <a:rPr lang="en-US" sz="1950" dirty="0">
                <a:solidFill>
                  <a:srgbClr val="6B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Org-union scoping for community managers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9816254" y="4876535"/>
            <a:ext cx="7690379" cy="397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173355" indent="-173355">
              <a:lnSpc>
                <a:spcPct val="126604"/>
              </a:lnSpc>
              <a:buSzPct val="100000"/>
              <a:buChar char="•"/>
              <a:tabLst>
                <a:tab pos="173355" algn="l"/>
              </a:tabLst>
            </a:pPr>
            <a:r>
              <a:rPr lang="en-US" sz="1950" dirty="0">
                <a:solidFill>
                  <a:srgbClr val="6B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audit log — logins, data access, scans</a:t>
            </a:r>
            <a:endParaRPr lang="en-US" sz="1950" dirty="0"/>
          </a:p>
        </p:txBody>
      </p:sp>
      <p:sp>
        <p:nvSpPr>
          <p:cNvPr id="16" name="Shape 14"/>
          <p:cNvSpPr/>
          <p:nvPr/>
        </p:nvSpPr>
        <p:spPr>
          <a:xfrm>
            <a:off x="1047750" y="5976408"/>
            <a:ext cx="95250" cy="435173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/>
        </p:spPr>
      </p:sp>
      <p:sp>
        <p:nvSpPr>
          <p:cNvPr id="17" name="Text 15"/>
          <p:cNvSpPr/>
          <p:nvPr/>
        </p:nvSpPr>
        <p:spPr>
          <a:xfrm>
            <a:off x="1371600" y="5976408"/>
            <a:ext cx="14404089" cy="4732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927"/>
              </a:lnSpc>
              <a:buNone/>
            </a:pPr>
            <a:r>
              <a:rPr lang="en-US" sz="2400" dirty="0">
                <a:solidFill>
                  <a:srgbClr val="1B1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Pluggable </a:t>
            </a:r>
            <a:pPr algn="l" indent="0" marL="0">
              <a:lnSpc>
                <a:spcPct val="122927"/>
              </a:lnSpc>
              <a:buNone/>
            </a:pPr>
            <a:r>
              <a:rPr lang="en-US" sz="1950" dirty="0">
                <a:solidFill>
                  <a:srgbClr val="1B1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AuthProvider </a:t>
            </a:r>
            <a:pPr algn="l" indent="0" marL="0">
              <a:lnSpc>
                <a:spcPct val="122927"/>
              </a:lnSpc>
              <a:buNone/>
            </a:pPr>
            <a:r>
              <a:rPr lang="en-US" sz="2400" dirty="0">
                <a:solidFill>
                  <a:srgbClr val="1B1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interface — SAML / OIDC can be added </a:t>
            </a:r>
            <a:pPr algn="l" indent="0" marL="0">
              <a:lnSpc>
                <a:spcPct val="122927"/>
              </a:lnSpc>
              <a:buNone/>
            </a:pPr>
            <a:r>
              <a:rPr lang="en-US" sz="2400" b="1" dirty="0">
                <a:solidFill>
                  <a:srgbClr val="1B1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without changing any route code</a:t>
            </a:r>
            <a:pPr algn="l" indent="0" marL="0">
              <a:lnSpc>
                <a:spcPct val="122927"/>
              </a:lnSpc>
              <a:buNone/>
            </a:pPr>
            <a:r>
              <a:rPr lang="en-US" sz="2400" dirty="0">
                <a:solidFill>
                  <a:srgbClr val="1B1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CFB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914400"/>
            <a:ext cx="17811750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98" kern="0" dirty="0">
                <a:solidFill>
                  <a:srgbClr val="6D2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ANNEX · A8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047750" y="1322917"/>
            <a:ext cx="17811750" cy="7408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1B1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Scoring Engine Internals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1047750" y="2482850"/>
            <a:ext cx="7953375" cy="2564342"/>
          </a:xfrm>
          <a:prstGeom prst="roundRect">
            <a:avLst>
              <a:gd name="adj" fmla="val 5943"/>
            </a:avLst>
          </a:prstGeom>
          <a:solidFill>
            <a:srgbClr val="FFFFFF"/>
          </a:solidFill>
          <a:ln w="16933">
            <a:solidFill>
              <a:srgbClr val="E6E1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464733" y="2842683"/>
            <a:ext cx="7831349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6D2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NORMALISATION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1464733" y="3251200"/>
            <a:ext cx="7332991" cy="14742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604"/>
              </a:lnSpc>
              <a:buNone/>
            </a:pPr>
            <a:r>
              <a:rPr lang="en-US" sz="1950" dirty="0">
                <a:solidFill>
                  <a:srgbClr val="6B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cipher names normalised OpenSSL → IANA before rule matching, so guideline recommended/deprecated lists match exactly. Full enumerated suite set merged into each assessment.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9286875" y="2482850"/>
            <a:ext cx="7953375" cy="2564342"/>
          </a:xfrm>
          <a:prstGeom prst="roundRect">
            <a:avLst>
              <a:gd name="adj" fmla="val 5943"/>
            </a:avLst>
          </a:prstGeom>
          <a:solidFill>
            <a:srgbClr val="FFFFFF"/>
          </a:solidFill>
          <a:ln w="16933">
            <a:solidFill>
              <a:srgbClr val="E6E1E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03858" y="2842683"/>
            <a:ext cx="7831349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6D2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NAMED FINDINGS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9703858" y="3251200"/>
            <a:ext cx="7332991" cy="11152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604"/>
              </a:lnSpc>
              <a:buNone/>
            </a:pPr>
            <a:r>
              <a:rPr lang="en-US" sz="1950" dirty="0">
                <a:solidFill>
                  <a:srgbClr val="6B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finding names the specific suites to remove — machine-readable cipher lists per finding, directly actionable by server admins.</a:t>
            </a:r>
            <a:endParaRPr lang="en-US" sz="1950" dirty="0"/>
          </a:p>
        </p:txBody>
      </p:sp>
      <p:sp>
        <p:nvSpPr>
          <p:cNvPr id="10" name="Shape 8"/>
          <p:cNvSpPr/>
          <p:nvPr/>
        </p:nvSpPr>
        <p:spPr>
          <a:xfrm>
            <a:off x="1047750" y="5332942"/>
            <a:ext cx="7953375" cy="2205302"/>
          </a:xfrm>
          <a:prstGeom prst="roundRect">
            <a:avLst>
              <a:gd name="adj" fmla="val 6911"/>
            </a:avLst>
          </a:prstGeom>
          <a:solidFill>
            <a:srgbClr val="FFFFFF"/>
          </a:solidFill>
          <a:ln w="16933">
            <a:solidFill>
              <a:srgbClr val="E6E1E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464733" y="5692775"/>
            <a:ext cx="7831349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6D2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N/A SEMANTICS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1464733" y="6101292"/>
            <a:ext cx="7332991" cy="11152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604"/>
              </a:lnSpc>
              <a:buNone/>
            </a:pPr>
            <a:r>
              <a:rPr lang="en-US" sz="1950" dirty="0">
                <a:solidFill>
                  <a:srgbClr val="6B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host where no TLS handshake completes is scored n/a — never "weak" — and excluded from averages, level counts and roadmaps.</a:t>
            </a:r>
            <a:endParaRPr lang="en-US" sz="1950" dirty="0"/>
          </a:p>
        </p:txBody>
      </p:sp>
      <p:sp>
        <p:nvSpPr>
          <p:cNvPr id="13" name="Shape 11"/>
          <p:cNvSpPr/>
          <p:nvPr/>
        </p:nvSpPr>
        <p:spPr>
          <a:xfrm>
            <a:off x="9286875" y="5332942"/>
            <a:ext cx="7953375" cy="2205302"/>
          </a:xfrm>
          <a:prstGeom prst="roundRect">
            <a:avLst>
              <a:gd name="adj" fmla="val 6911"/>
            </a:avLst>
          </a:prstGeom>
          <a:solidFill>
            <a:srgbClr val="FFFFFF"/>
          </a:solidFill>
          <a:ln w="16933">
            <a:solidFill>
              <a:srgbClr val="E6E1E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703858" y="5692775"/>
            <a:ext cx="7831349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6D2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SSL LABS — DISPLAY ONLY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9703858" y="6101292"/>
            <a:ext cx="7332991" cy="7561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604"/>
              </a:lnSpc>
              <a:buNone/>
            </a:pPr>
            <a:r>
              <a:rPr lang="en-US" sz="1950" dirty="0">
                <a:solidFill>
                  <a:srgbClr val="6B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Qualys grade shown alongside for cross-checking, but by design it never feeds the PQC score — one methodology, one number.</a:t>
            </a:r>
            <a:endParaRPr lang="en-US" sz="1950" dirty="0"/>
          </a:p>
        </p:txBody>
      </p:sp>
      <p:sp>
        <p:nvSpPr>
          <p:cNvPr id="16" name="Shape 14"/>
          <p:cNvSpPr/>
          <p:nvPr/>
        </p:nvSpPr>
        <p:spPr>
          <a:xfrm>
            <a:off x="1047750" y="7919244"/>
            <a:ext cx="95250" cy="435173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/>
        </p:spPr>
      </p:sp>
      <p:sp>
        <p:nvSpPr>
          <p:cNvPr id="17" name="Text 15"/>
          <p:cNvSpPr/>
          <p:nvPr/>
        </p:nvSpPr>
        <p:spPr>
          <a:xfrm>
            <a:off x="1371600" y="7919244"/>
            <a:ext cx="15015786" cy="4732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927"/>
              </a:lnSpc>
              <a:buNone/>
            </a:pPr>
            <a:r>
              <a:rPr lang="en-US" sz="2400" dirty="0">
                <a:solidFill>
                  <a:srgbClr val="1B1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Per-service scores aggregate to a domain score; the </a:t>
            </a:r>
            <a:pPr algn="l" indent="0" marL="0">
              <a:lnSpc>
                <a:spcPct val="122927"/>
              </a:lnSpc>
              <a:buNone/>
            </a:pPr>
            <a:r>
              <a:rPr lang="en-US" sz="2400" b="1" dirty="0">
                <a:solidFill>
                  <a:srgbClr val="1B1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worst observed configuration drives the findings</a:t>
            </a:r>
            <a:pPr algn="l" indent="0" marL="0">
              <a:lnSpc>
                <a:spcPct val="122927"/>
              </a:lnSpc>
              <a:buNone/>
            </a:pPr>
            <a:r>
              <a:rPr lang="en-US" sz="2400" dirty="0">
                <a:solidFill>
                  <a:srgbClr val="1B1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2026-07-10T11:23:52Z</dcterms:created>
  <dcterms:modified xsi:type="dcterms:W3CDTF">2026-07-10T11:23:52Z</dcterms:modified>
</cp:coreProperties>
</file>